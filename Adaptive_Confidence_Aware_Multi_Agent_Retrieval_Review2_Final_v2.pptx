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458" autoAdjust="0"/>
  </p:normalViewPr>
  <p:slideViewPr>
    <p:cSldViewPr snapToGrid="0" snapToObjects="1">
      <p:cViewPr>
        <p:scale>
          <a:sx n="75" d="100"/>
          <a:sy n="75" d="100"/>
        </p:scale>
        <p:origin x="946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1.16335" TargetMode="External"/><Relationship Id="rId2" Type="http://schemas.openxmlformats.org/officeDocument/2006/relationships/hyperlink" Target="https://arxiv.org/abs/2406.18663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rxiv.org/abs/2501.14152" TargetMode="External"/><Relationship Id="rId5" Type="http://schemas.openxmlformats.org/officeDocument/2006/relationships/hyperlink" Target="https://arxiv.org/abs/2502.05432" TargetMode="External"/><Relationship Id="rId4" Type="http://schemas.openxmlformats.org/officeDocument/2006/relationships/hyperlink" Target="https://arxiv.org/abs/2502.12345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2023.acl-long.557/" TargetMode="External"/><Relationship Id="rId2" Type="http://schemas.openxmlformats.org/officeDocument/2006/relationships/hyperlink" Target="https://aclanthology.org/2023.acl-long.546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clanthology.org/2024.naacl-long.389/" TargetMode="External"/><Relationship Id="rId5" Type="http://schemas.openxmlformats.org/officeDocument/2006/relationships/hyperlink" Target="https://openreview.net/forum?id=hSyW5pBhoW" TargetMode="External"/><Relationship Id="rId4" Type="http://schemas.openxmlformats.org/officeDocument/2006/relationships/hyperlink" Target="https://aclanthology.org/2023.acl-long.99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4.07220" TargetMode="External"/><Relationship Id="rId2" Type="http://schemas.openxmlformats.org/officeDocument/2006/relationships/hyperlink" Target="https://arxiv.org/abs/2401.15884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clanthology.org/2024.tacl-1.9/" TargetMode="External"/><Relationship Id="rId5" Type="http://schemas.openxmlformats.org/officeDocument/2006/relationships/hyperlink" Target="https://aclanthology.org/2024.naacl-long.225/" TargetMode="External"/><Relationship Id="rId4" Type="http://schemas.openxmlformats.org/officeDocument/2006/relationships/hyperlink" Target="https://aclanthology.org/2024.eacl-demo.16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2.03216" TargetMode="External"/><Relationship Id="rId2" Type="http://schemas.openxmlformats.org/officeDocument/2006/relationships/hyperlink" Target="https://arxiv.org/abs/2403.10131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rxiv.org/abs/2501.16335" TargetMode="External"/><Relationship Id="rId5" Type="http://schemas.openxmlformats.org/officeDocument/2006/relationships/hyperlink" Target="https://arxiv.org/abs/2501.14152" TargetMode="External"/><Relationship Id="rId4" Type="http://schemas.openxmlformats.org/officeDocument/2006/relationships/hyperlink" Target="https://arxiv.org/abs/2406.18663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2024.findings-emnlp.832/" TargetMode="External"/><Relationship Id="rId2" Type="http://schemas.openxmlformats.org/officeDocument/2006/relationships/hyperlink" Target="https://arxiv.org/abs/2501.09136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rxiv.org/abs/2502.09876" TargetMode="External"/><Relationship Id="rId5" Type="http://schemas.openxmlformats.org/officeDocument/2006/relationships/hyperlink" Target="https://arxiv.org/abs/2502.05432" TargetMode="External"/><Relationship Id="rId4" Type="http://schemas.openxmlformats.org/officeDocument/2006/relationships/hyperlink" Target="https://arxiv.org/abs/2502.12345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aclanthology.org/2023.acl-long.557/" TargetMode="External"/><Relationship Id="rId13" Type="http://schemas.openxmlformats.org/officeDocument/2006/relationships/hyperlink" Target="https://arxiv.org/abs/2404.07220" TargetMode="External"/><Relationship Id="rId18" Type="http://schemas.openxmlformats.org/officeDocument/2006/relationships/hyperlink" Target="https://arxiv.org/abs/2402.03216" TargetMode="External"/><Relationship Id="rId26" Type="http://schemas.openxmlformats.org/officeDocument/2006/relationships/hyperlink" Target="https://arxiv.org/abs/2502.09876" TargetMode="External"/><Relationship Id="rId3" Type="http://schemas.openxmlformats.org/officeDocument/2006/relationships/hyperlink" Target="https://aclanthology.org/D18-1259/" TargetMode="External"/><Relationship Id="rId21" Type="http://schemas.openxmlformats.org/officeDocument/2006/relationships/hyperlink" Target="https://arxiv.org/abs/2501.16335" TargetMode="External"/><Relationship Id="rId7" Type="http://schemas.openxmlformats.org/officeDocument/2006/relationships/hyperlink" Target="https://aclanthology.org/2023.acl-long.546/" TargetMode="External"/><Relationship Id="rId12" Type="http://schemas.openxmlformats.org/officeDocument/2006/relationships/hyperlink" Target="https://arxiv.org/abs/2401.15884" TargetMode="External"/><Relationship Id="rId17" Type="http://schemas.openxmlformats.org/officeDocument/2006/relationships/hyperlink" Target="https://arxiv.org/abs/2403.10131" TargetMode="External"/><Relationship Id="rId25" Type="http://schemas.openxmlformats.org/officeDocument/2006/relationships/hyperlink" Target="https://arxiv.org/abs/2502.05432" TargetMode="External"/><Relationship Id="rId2" Type="http://schemas.openxmlformats.org/officeDocument/2006/relationships/hyperlink" Target="https://www.nowpublishers.com/article/Details/INR-019" TargetMode="External"/><Relationship Id="rId16" Type="http://schemas.openxmlformats.org/officeDocument/2006/relationships/hyperlink" Target="https://aclanthology.org/2024.tacl-1.9/" TargetMode="External"/><Relationship Id="rId20" Type="http://schemas.openxmlformats.org/officeDocument/2006/relationships/hyperlink" Target="https://arxiv.org/abs/2501.14152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clanthology.org/2022.naacl-main.272/" TargetMode="External"/><Relationship Id="rId11" Type="http://schemas.openxmlformats.org/officeDocument/2006/relationships/hyperlink" Target="https://aclanthology.org/2024.naacl-long.389/" TargetMode="External"/><Relationship Id="rId24" Type="http://schemas.openxmlformats.org/officeDocument/2006/relationships/hyperlink" Target="https://arxiv.org/abs/2502.12345" TargetMode="External"/><Relationship Id="rId5" Type="http://schemas.openxmlformats.org/officeDocument/2006/relationships/hyperlink" Target="https://aclanthology.org/2020.emnlp-main.550/" TargetMode="External"/><Relationship Id="rId15" Type="http://schemas.openxmlformats.org/officeDocument/2006/relationships/hyperlink" Target="https://aclanthology.org/2024.naacl-long.225/" TargetMode="External"/><Relationship Id="rId23" Type="http://schemas.openxmlformats.org/officeDocument/2006/relationships/hyperlink" Target="https://aclanthology.org/2024.findings-emnlp.832/" TargetMode="External"/><Relationship Id="rId10" Type="http://schemas.openxmlformats.org/officeDocument/2006/relationships/hyperlink" Target="https://openreview.net/forum?id=hSyW5pBhoW" TargetMode="External"/><Relationship Id="rId19" Type="http://schemas.openxmlformats.org/officeDocument/2006/relationships/hyperlink" Target="https://arxiv.org/abs/2406.18663" TargetMode="External"/><Relationship Id="rId4" Type="http://schemas.openxmlformats.org/officeDocument/2006/relationships/hyperlink" Target="https://proceedings.neurips.cc/paper/2020/hash/6b4511b5fd5a9e47b4e9342778d810d0-Abstract.html" TargetMode="External"/><Relationship Id="rId9" Type="http://schemas.openxmlformats.org/officeDocument/2006/relationships/hyperlink" Target="https://aclanthology.org/2023.acl-long.99/" TargetMode="External"/><Relationship Id="rId14" Type="http://schemas.openxmlformats.org/officeDocument/2006/relationships/hyperlink" Target="https://aclanthology.org/2024.eacl-demo.16/" TargetMode="External"/><Relationship Id="rId22" Type="http://schemas.openxmlformats.org/officeDocument/2006/relationships/hyperlink" Target="https://arxiv.org/abs/2501.0913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8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2011680"/>
          </a:xfrm>
          <a:prstGeom prst="roundRect">
            <a:avLst/>
          </a:prstGeom>
          <a:solidFill>
            <a:srgbClr val="183552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914400"/>
            <a:ext cx="1018001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Georgia"/>
              </a:defRPr>
            </a:pPr>
            <a:r>
              <a:t>ADAPTIVE CONFIDENCE-AWARE MULTI-AGENT RETRIEVAL SYSTEM</a:t>
            </a:r>
          </a:p>
          <a:p>
            <a:pPr>
              <a:defRPr sz="1800" b="1">
                <a:solidFill>
                  <a:srgbClr val="F4A261"/>
                </a:solidFill>
                <a:latin typeface="Arial"/>
              </a:defRPr>
            </a:pPr>
            <a:r>
              <a:t>Review 2 — Research Progress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25146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3063240"/>
            <a:ext cx="2240280" cy="1036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68AAD"/>
                </a:solidFill>
              </a:defRPr>
            </a:pPr>
            <a:r>
              <a:rPr dirty="0"/>
              <a:t>PRESENTED BY</a:t>
            </a:r>
          </a:p>
          <a:p>
            <a:pPr>
              <a:spcAft>
                <a:spcPts val="400"/>
              </a:spcAft>
              <a:defRPr sz="1800" b="1">
                <a:solidFill>
                  <a:srgbClr val="102A43"/>
                </a:solidFill>
              </a:defRPr>
            </a:pPr>
            <a:r>
              <a:rPr dirty="0"/>
              <a:t>Vishal S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rPr dirty="0"/>
              <a:t>Registration No: 22MIS1165</a:t>
            </a:r>
            <a:br>
              <a:rPr dirty="0"/>
            </a:b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3456432" y="2926080"/>
            <a:ext cx="25146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93592" y="3063240"/>
            <a:ext cx="22402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68AAD"/>
                </a:solidFill>
              </a:defRPr>
            </a:pPr>
            <a:r>
              <a:rPr dirty="0"/>
              <a:t>PROJECT GUIDE</a:t>
            </a:r>
          </a:p>
          <a:p>
            <a:pPr>
              <a:spcAft>
                <a:spcPts val="400"/>
              </a:spcAft>
              <a:defRPr sz="1800" b="1">
                <a:solidFill>
                  <a:srgbClr val="102A43"/>
                </a:solidFill>
              </a:defRPr>
            </a:pPr>
            <a:r>
              <a:rPr dirty="0"/>
              <a:t>Dr. Malini 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2926080"/>
            <a:ext cx="25146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18504" y="3063240"/>
            <a:ext cx="22402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68AAD"/>
                </a:solidFill>
              </a:defRPr>
            </a:pPr>
            <a:r>
              <a:rPr dirty="0"/>
              <a:t>DEPARTMENT</a:t>
            </a:r>
          </a:p>
          <a:p>
            <a:pPr>
              <a:spcAft>
                <a:spcPts val="400"/>
              </a:spcAft>
              <a:defRPr sz="1800" b="1">
                <a:solidFill>
                  <a:srgbClr val="102A43"/>
                </a:solidFill>
              </a:defRPr>
            </a:pPr>
            <a:r>
              <a:rPr dirty="0"/>
              <a:t>SCOPE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2926080"/>
            <a:ext cx="25146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43416" y="3063240"/>
            <a:ext cx="2240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68AAD"/>
                </a:solidFill>
              </a:defRPr>
            </a:pPr>
            <a:r>
              <a:t>INSTITUTION</a:t>
            </a:r>
          </a:p>
          <a:p>
            <a:pPr>
              <a:spcAft>
                <a:spcPts val="400"/>
              </a:spcAft>
              <a:defRPr sz="1800" b="1">
                <a:solidFill>
                  <a:srgbClr val="102A43"/>
                </a:solidFill>
              </a:defRPr>
            </a:pPr>
            <a:r>
              <a:t>VIT Chennai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Vellore Institute of Technology, Chennai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57800"/>
            <a:ext cx="10728655" cy="1051560"/>
          </a:xfrm>
          <a:prstGeom prst="roundRect">
            <a:avLst/>
          </a:prstGeom>
          <a:solidFill>
            <a:srgbClr val="183552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4A261"/>
                </a:solidFill>
              </a:defRPr>
            </a:pPr>
            <a:r>
              <a:t>RESEARCH PIPELINE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User Query   ──►   Retrieval Committee   ──►   Evidence Judge   ──►   Confidence Scoring   ──►   Grounded Answer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68AAD"/>
                </a:solidFill>
                <a:latin typeface="Arial"/>
              </a:defRPr>
            </a:pPr>
            <a:r>
              <a:t>REVIEW 2 RESEARCH PRESENTATION</a:t>
            </a:r>
          </a:p>
          <a:p>
            <a:pPr>
              <a:defRPr sz="2800" b="1">
                <a:solidFill>
                  <a:srgbClr val="102A43"/>
                </a:solidFill>
                <a:latin typeface="Georgia"/>
              </a:defRPr>
            </a:pPr>
            <a:r>
              <a:t>Research Presentation 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9326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27D98"/>
                </a:solidFill>
                <a:latin typeface="Arial"/>
              </a:defRPr>
            </a:pPr>
            <a:r>
              <a:t>Adaptive Confidence-Aware Multi-Agent Retrieval System | Vishal S | 22MIS1165 | VIT Chennai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4652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02A43"/>
                </a:solidFill>
                <a:latin typeface="Arial"/>
              </a:defRPr>
            </a:pPr>
            <a:r>
              <a:t>2 /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168AAD"/>
                </a:solidFill>
              </a:defRPr>
            </a:pPr>
            <a:r>
              <a:t>FOUNDATIONS &amp; SYSTEM DESIGN</a:t>
            </a:r>
          </a:p>
          <a:p>
            <a:pPr>
              <a:spcAft>
                <a:spcPts val="800"/>
              </a:spcAft>
              <a:defRPr sz="1500">
                <a:solidFill>
                  <a:srgbClr val="243B53"/>
                </a:solidFill>
              </a:defRPr>
            </a:pPr>
            <a:r>
              <a:t>01 Introduction</a:t>
            </a:r>
          </a:p>
          <a:p>
            <a:pPr>
              <a:spcAft>
                <a:spcPts val="800"/>
              </a:spcAft>
              <a:defRPr sz="1500">
                <a:solidFill>
                  <a:srgbClr val="243B53"/>
                </a:solidFill>
              </a:defRPr>
            </a:pPr>
            <a:r>
              <a:t>02 Literature Review</a:t>
            </a:r>
          </a:p>
          <a:p>
            <a:pPr>
              <a:spcAft>
                <a:spcPts val="800"/>
              </a:spcAft>
              <a:defRPr sz="1500">
                <a:solidFill>
                  <a:srgbClr val="243B53"/>
                </a:solidFill>
              </a:defRPr>
            </a:pPr>
            <a:r>
              <a:t>03 Literature Synthesis &amp; Research Gap</a:t>
            </a:r>
          </a:p>
          <a:p>
            <a:pPr>
              <a:spcAft>
                <a:spcPts val="800"/>
              </a:spcAft>
              <a:defRPr sz="1500">
                <a:solidFill>
                  <a:srgbClr val="243B53"/>
                </a:solidFill>
              </a:defRPr>
            </a:pPr>
            <a:r>
              <a:t>04 Scope &amp; Problem Statement</a:t>
            </a:r>
          </a:p>
          <a:p>
            <a:pPr>
              <a:spcAft>
                <a:spcPts val="800"/>
              </a:spcAft>
              <a:defRPr sz="1500">
                <a:solidFill>
                  <a:srgbClr val="243B53"/>
                </a:solidFill>
              </a:defRPr>
            </a:pPr>
            <a:r>
              <a:t>05 Research Challenges</a:t>
            </a:r>
          </a:p>
          <a:p>
            <a:pPr>
              <a:spcAft>
                <a:spcPts val="800"/>
              </a:spcAft>
              <a:defRPr sz="1500">
                <a:solidFill>
                  <a:srgbClr val="243B53"/>
                </a:solidFill>
              </a:defRPr>
            </a:pPr>
            <a:r>
              <a:t>06 Research Objectives</a:t>
            </a:r>
          </a:p>
          <a:p>
            <a:pPr>
              <a:spcAft>
                <a:spcPts val="800"/>
              </a:spcAft>
              <a:defRPr sz="1500">
                <a:solidFill>
                  <a:srgbClr val="243B53"/>
                </a:solidFill>
              </a:defRPr>
            </a:pPr>
            <a:r>
              <a:t>07 Proposed Architecture</a:t>
            </a:r>
          </a:p>
          <a:p>
            <a:pPr>
              <a:spcAft>
                <a:spcPts val="800"/>
              </a:spcAft>
              <a:defRPr sz="1500">
                <a:solidFill>
                  <a:srgbClr val="243B53"/>
                </a:solidFill>
              </a:defRPr>
            </a:pPr>
            <a:r>
              <a:t>08 End-to-End System Methodology</a:t>
            </a:r>
          </a:p>
          <a:p>
            <a:pPr>
              <a:spcAft>
                <a:spcPts val="800"/>
              </a:spcAft>
              <a:defRPr sz="1500">
                <a:solidFill>
                  <a:srgbClr val="243B53"/>
                </a:solidFill>
              </a:defRPr>
            </a:pPr>
            <a:r>
              <a:t>09 Current Implementation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22415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4A261"/>
                </a:solidFill>
              </a:defRPr>
            </a:pPr>
            <a:r>
              <a:t>EVALUATION, NOVELTY &amp; ROADMAP</a:t>
            </a:r>
          </a:p>
          <a:p>
            <a:pPr>
              <a:spcAft>
                <a:spcPts val="800"/>
              </a:spcAft>
              <a:defRPr sz="1500">
                <a:solidFill>
                  <a:srgbClr val="243B53"/>
                </a:solidFill>
              </a:defRPr>
            </a:pPr>
            <a:r>
              <a:t>10 Backend Architecture &amp; Stack</a:t>
            </a:r>
          </a:p>
          <a:p>
            <a:pPr>
              <a:spcAft>
                <a:spcPts val="800"/>
              </a:spcAft>
              <a:defRPr sz="1500">
                <a:solidFill>
                  <a:srgbClr val="243B53"/>
                </a:solidFill>
              </a:defRPr>
            </a:pPr>
            <a:r>
              <a:t>11 Preliminary Verification Results</a:t>
            </a:r>
          </a:p>
          <a:p>
            <a:pPr>
              <a:spcAft>
                <a:spcPts val="800"/>
              </a:spcAft>
              <a:defRPr sz="1500">
                <a:solidFill>
                  <a:srgbClr val="243B53"/>
                </a:solidFill>
              </a:defRPr>
            </a:pPr>
            <a:r>
              <a:t>12 Comparison with Existing Works</a:t>
            </a:r>
          </a:p>
          <a:p>
            <a:pPr>
              <a:spcAft>
                <a:spcPts val="800"/>
              </a:spcAft>
              <a:defRPr sz="1500">
                <a:solidFill>
                  <a:srgbClr val="243B53"/>
                </a:solidFill>
              </a:defRPr>
            </a:pPr>
            <a:r>
              <a:t>13 Proposed Novel Contribution</a:t>
            </a:r>
          </a:p>
          <a:p>
            <a:pPr>
              <a:spcAft>
                <a:spcPts val="800"/>
              </a:spcAft>
              <a:defRPr sz="1500">
                <a:solidFill>
                  <a:srgbClr val="243B53"/>
                </a:solidFill>
              </a:defRPr>
            </a:pPr>
            <a:r>
              <a:t>14 Experimental &amp; Evaluation Plan</a:t>
            </a:r>
          </a:p>
          <a:p>
            <a:pPr>
              <a:spcAft>
                <a:spcPts val="800"/>
              </a:spcAft>
              <a:defRPr sz="1500">
                <a:solidFill>
                  <a:srgbClr val="243B53"/>
                </a:solidFill>
              </a:defRPr>
            </a:pPr>
            <a:r>
              <a:t>15 Expected Research Contribution</a:t>
            </a:r>
          </a:p>
          <a:p>
            <a:pPr>
              <a:spcAft>
                <a:spcPts val="800"/>
              </a:spcAft>
              <a:defRPr sz="1500">
                <a:solidFill>
                  <a:srgbClr val="243B53"/>
                </a:solidFill>
              </a:defRPr>
            </a:pPr>
            <a:r>
              <a:t>16 Conclusion &amp; Summary</a:t>
            </a:r>
          </a:p>
          <a:p>
            <a:pPr>
              <a:spcAft>
                <a:spcPts val="800"/>
              </a:spcAft>
              <a:defRPr sz="1500">
                <a:solidFill>
                  <a:srgbClr val="243B53"/>
                </a:solidFill>
              </a:defRPr>
            </a:pPr>
            <a:r>
              <a:t>17 Limitations &amp; Future Roadmap</a:t>
            </a:r>
          </a:p>
          <a:p>
            <a:pPr>
              <a:spcAft>
                <a:spcPts val="800"/>
              </a:spcAft>
              <a:defRPr sz="1500">
                <a:solidFill>
                  <a:srgbClr val="243B53"/>
                </a:solidFill>
              </a:defRPr>
            </a:pPr>
            <a:r>
              <a:t>18 Verified Academic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68AAD"/>
                </a:solidFill>
                <a:latin typeface="Arial"/>
              </a:defRPr>
            </a:pPr>
            <a:r>
              <a:t>REVIEW 2 RESEARCH PRESENTATION</a:t>
            </a:r>
          </a:p>
          <a:p>
            <a:pPr>
              <a:defRPr sz="2800" b="1">
                <a:solidFill>
                  <a:srgbClr val="102A43"/>
                </a:solidFill>
                <a:latin typeface="Georgia"/>
              </a:defRPr>
            </a:pPr>
            <a:r>
              <a:t>Introduction to Retrieval-Augmented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9326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27D98"/>
                </a:solidFill>
                <a:latin typeface="Arial"/>
              </a:defRPr>
            </a:pPr>
            <a:r>
              <a:t>Adaptive Confidence-Aware Multi-Agent Retrieval System | Vishal S | 22MIS1165 | VIT Chennai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4652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02A43"/>
                </a:solidFill>
                <a:latin typeface="Arial"/>
              </a:defRPr>
            </a:pPr>
            <a:r>
              <a:t>3 /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628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2A43"/>
                </a:solidFill>
              </a:defRPr>
            </a:pPr>
            <a:r>
              <a:t>RETRIEVAL-AUGMENTED GENERATION (RAG) OVERVIEW</a:t>
            </a:r>
          </a:p>
          <a:p>
            <a:pPr>
              <a:spcAft>
                <a:spcPts val="800"/>
              </a:spcAft>
              <a:defRPr sz="1700">
                <a:solidFill>
                  <a:srgbClr val="243B53"/>
                </a:solidFill>
              </a:defRPr>
            </a:pPr>
            <a:r>
              <a:t>Large Language Models generate fluent responses but may produce unsupported or incorrect factual information (hallucinations). Retrieval-Augmented Generation (RAG) addresses this limitation by retrieving relevant external context before answer synthesis.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25146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3675888"/>
            <a:ext cx="2295144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68AAD"/>
                </a:solidFill>
              </a:defRPr>
            </a:pPr>
            <a:r>
              <a:t>External Knowledge</a:t>
            </a:r>
          </a:p>
          <a:p>
            <a:pPr>
              <a:defRPr sz="1400">
                <a:solidFill>
                  <a:srgbClr val="243B53"/>
                </a:solidFill>
              </a:defRPr>
            </a:pPr>
            <a:r>
              <a:t>Access to proprietary, dynamic, and non-public enterprise documents.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5576" y="3566160"/>
            <a:ext cx="25146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75304" y="3675888"/>
            <a:ext cx="2295144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68AAD"/>
                </a:solidFill>
              </a:defRPr>
            </a:pPr>
            <a:r>
              <a:t>No Retraining</a:t>
            </a:r>
          </a:p>
          <a:p>
            <a:pPr>
              <a:defRPr sz="1400">
                <a:solidFill>
                  <a:srgbClr val="243B53"/>
                </a:solidFill>
              </a:defRPr>
            </a:pPr>
            <a:r>
              <a:t>Knowledge updating without computationally expensive full model fine-tuning.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3566160"/>
            <a:ext cx="25146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3675888"/>
            <a:ext cx="2295144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68AAD"/>
                </a:solidFill>
              </a:defRPr>
            </a:pPr>
            <a:r>
              <a:t>Evidence Grounding</a:t>
            </a:r>
          </a:p>
          <a:p>
            <a:pPr>
              <a:defRPr sz="1400">
                <a:solidFill>
                  <a:srgbClr val="243B53"/>
                </a:solidFill>
              </a:defRPr>
            </a:pPr>
            <a:r>
              <a:t>Answers are strictly synthesized from retrieved source passages.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33688" y="3566160"/>
            <a:ext cx="25146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43416" y="3675888"/>
            <a:ext cx="2295144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68AAD"/>
                </a:solidFill>
              </a:defRPr>
            </a:pPr>
            <a:r>
              <a:t>Source Auditability</a:t>
            </a:r>
          </a:p>
          <a:p>
            <a:pPr>
              <a:defRPr sz="1400">
                <a:solidFill>
                  <a:srgbClr val="243B53"/>
                </a:solidFill>
              </a:defRPr>
            </a:pPr>
            <a:r>
              <a:t>Explicit citation attribution enables verifiable human auditing.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68AAD"/>
                </a:solidFill>
                <a:latin typeface="Arial"/>
              </a:defRPr>
            </a:pPr>
            <a:r>
              <a:t>REVIEW 2 RESEARCH PRESENTATION</a:t>
            </a:r>
          </a:p>
          <a:p>
            <a:pPr>
              <a:defRPr sz="2800" b="1">
                <a:solidFill>
                  <a:srgbClr val="102A43"/>
                </a:solidFill>
                <a:latin typeface="Georgia"/>
              </a:defRPr>
            </a:pPr>
            <a:r>
              <a:t>Motivating Adaptive Retrieval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9326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27D98"/>
                </a:solidFill>
                <a:latin typeface="Arial"/>
              </a:defRPr>
            </a:pPr>
            <a:r>
              <a:t>Adaptive Confidence-Aware Multi-Agent Retrieval System | Vishal S | 22MIS1165 | VIT Chennai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4652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02A43"/>
                </a:solidFill>
                <a:latin typeface="Arial"/>
              </a:defRPr>
            </a:pPr>
            <a:r>
              <a:t>4 /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28416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05409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68AAD"/>
                </a:solidFill>
              </a:defRPr>
            </a:pPr>
            <a:r>
              <a:t>KEYWORD / EXACT QUERY</a:t>
            </a:r>
          </a:p>
          <a:p>
            <a:pPr>
              <a:spcAft>
                <a:spcPts val="1000"/>
              </a:spcAft>
              <a:defRPr sz="1300" i="1">
                <a:solidFill>
                  <a:srgbClr val="102A43"/>
                </a:solidFill>
              </a:defRPr>
            </a:pPr>
            <a:r>
              <a:t>Example Query:</a:t>
            </a:r>
            <a:br/>
            <a:r>
              <a:t>"NovaSync v3.2 zero-trust encryption AES-256 throughput"</a:t>
            </a:r>
          </a:p>
          <a:p>
            <a:pPr>
              <a:defRPr sz="1300">
                <a:solidFill>
                  <a:srgbClr val="243B53"/>
                </a:solidFill>
              </a:defRPr>
            </a:pPr>
            <a:r>
              <a:t>Characteristics:</a:t>
            </a:r>
            <a:br/>
            <a:r>
              <a:t>• Exact technical terms</a:t>
            </a:r>
            <a:br/>
            <a:r>
              <a:t>• Software versions</a:t>
            </a:r>
            <a:br/>
            <a:r>
              <a:t>• Serial codes</a:t>
            </a:r>
            <a:br/>
            <a:br/>
            <a:r>
              <a:t>Potentially Suitable:</a:t>
            </a:r>
            <a:br/>
            <a:r>
              <a:t>BM25 Lexical Retrieval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371600"/>
            <a:ext cx="3328416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62856" y="1508760"/>
            <a:ext cx="305409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68AAD"/>
                </a:solidFill>
              </a:defRPr>
            </a:pPr>
            <a:r>
              <a:t>CONCEPTUAL QUERY</a:t>
            </a:r>
          </a:p>
          <a:p>
            <a:pPr>
              <a:spcAft>
                <a:spcPts val="1000"/>
              </a:spcAft>
              <a:defRPr sz="1300" i="1">
                <a:solidFill>
                  <a:srgbClr val="102A43"/>
                </a:solidFill>
              </a:defRPr>
            </a:pPr>
            <a:r>
              <a:t>Example Query:</a:t>
            </a:r>
            <a:br/>
            <a:r>
              <a:t>"How does NovaTech reduce environmental waste?"</a:t>
            </a:r>
          </a:p>
          <a:p>
            <a:pPr>
              <a:defRPr sz="1300">
                <a:solidFill>
                  <a:srgbClr val="243B53"/>
                </a:solidFill>
              </a:defRPr>
            </a:pPr>
            <a:r>
              <a:t>Characteristics:</a:t>
            </a:r>
            <a:br/>
            <a:r>
              <a:t>• Semantic concepts</a:t>
            </a:r>
            <a:br/>
            <a:r>
              <a:t>• Paraphrases</a:t>
            </a:r>
            <a:br/>
            <a:r>
              <a:t>• Broader meaning</a:t>
            </a:r>
            <a:br/>
            <a:br/>
            <a:r>
              <a:t>Potentially Suitable:</a:t>
            </a:r>
            <a:br/>
            <a:r>
              <a:t>Semantic Vector 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371600"/>
            <a:ext cx="3328416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57031" y="1508760"/>
            <a:ext cx="305409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4A261"/>
                </a:solidFill>
              </a:defRPr>
            </a:pPr>
            <a:r>
              <a:t>COMPARISON / COMPLEX</a:t>
            </a:r>
          </a:p>
          <a:p>
            <a:pPr>
              <a:spcAft>
                <a:spcPts val="1000"/>
              </a:spcAft>
              <a:defRPr sz="1300" i="1">
                <a:solidFill>
                  <a:srgbClr val="102A43"/>
                </a:solidFill>
              </a:defRPr>
            </a:pPr>
            <a:r>
              <a:t>Example Query:</a:t>
            </a:r>
            <a:br/>
            <a:r>
              <a:t>"Compare NovaSolar-X efficiency with AeroGuide drone speed."</a:t>
            </a:r>
          </a:p>
          <a:p>
            <a:pPr>
              <a:defRPr sz="1300">
                <a:solidFill>
                  <a:srgbClr val="243B53"/>
                </a:solidFill>
              </a:defRPr>
            </a:pPr>
            <a:r>
              <a:t>Characteristics:</a:t>
            </a:r>
            <a:br/>
            <a:r>
              <a:t>• Multiple entities</a:t>
            </a:r>
            <a:br/>
            <a:r>
              <a:t>• Combined evidence</a:t>
            </a:r>
            <a:br/>
            <a:r>
              <a:t>• Cross-section links</a:t>
            </a:r>
            <a:br/>
            <a:br/>
            <a:r>
              <a:t>Potentially Suitable:</a:t>
            </a:r>
            <a:br/>
            <a:r>
              <a:t>Hybrid Retrieval Fusion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46320"/>
            <a:ext cx="1071676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937760"/>
            <a:ext cx="1035100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02A43"/>
                </a:solidFill>
              </a:defRPr>
            </a:pPr>
            <a:r>
              <a:t>CORE RESEARCH MOTIVATION: ONE-SIZE-FITS-ALL RETRIEVAL IS NOT OPTIMAL</a:t>
            </a:r>
          </a:p>
          <a:p>
            <a:pPr>
              <a:defRPr sz="1300" b="1">
                <a:solidFill>
                  <a:srgbClr val="F4A261"/>
                </a:solidFill>
              </a:defRPr>
            </a:pPr>
            <a:r>
              <a:t>RESEARCH DIRECTION: Enforce dynamic retrieval strategy selection (BM25, Semantic, or Hybrid) based on empirical query traits and evidence requirements rather than relying on a static single retriever.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18" y="56195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68AAD"/>
                </a:solidFill>
                <a:latin typeface="Arial"/>
              </a:defRPr>
            </a:pPr>
            <a:r>
              <a:rPr dirty="0"/>
              <a:t>LITERATURE REVIEW &amp; STATE-OF-THE-ART</a:t>
            </a:r>
          </a:p>
          <a:p>
            <a:pPr>
              <a:defRPr sz="2800" b="1">
                <a:solidFill>
                  <a:srgbClr val="102A43"/>
                </a:solidFill>
                <a:latin typeface="Georgia"/>
              </a:defRPr>
            </a:pPr>
            <a:r>
              <a:rPr dirty="0"/>
              <a:t>Literature Review I — Foundational Retrieval &amp; 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9326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27D98"/>
                </a:solidFill>
                <a:latin typeface="Arial"/>
              </a:defRPr>
            </a:pPr>
            <a:r>
              <a:t>Adaptive Confidence-Aware Multi-Agent Retrieval System | Vishal S | 22MIS1165 | VIT Chennai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4652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02A43"/>
                </a:solidFill>
                <a:latin typeface="Arial"/>
              </a:defRPr>
            </a:pPr>
            <a:r>
              <a:t>5 / 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719310"/>
              </p:ext>
            </p:extLst>
          </p:nvPr>
        </p:nvGraphicFramePr>
        <p:xfrm>
          <a:off x="454346" y="667984"/>
          <a:ext cx="11282997" cy="6159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44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2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9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79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409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96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S. No.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Paper Title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Author(s) &amp; Year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Method / Approach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Contribution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/>
                        <a:t>Identified Research Gap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56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8AAD"/>
                          </a:solidFill>
                          <a:latin typeface="Arial"/>
                          <a:hlinkClick r:id="rId2"/>
                        </a:rPr>
                        <a:t>RouterRetriever: Routing over a Mixture of Expert Embedding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i="1">
                          <a:solidFill>
                            <a:srgbClr val="243B53"/>
                          </a:solidFill>
                          <a:latin typeface="Arial"/>
                        </a:defRPr>
                      </a:pPr>
                      <a:r>
                        <a:rPr dirty="0" err="1"/>
                        <a:t>Hyunji</a:t>
                      </a:r>
                      <a:r>
                        <a:rPr dirty="0"/>
                        <a:t> Lee, Luca </a:t>
                      </a:r>
                      <a:r>
                        <a:rPr dirty="0" err="1"/>
                        <a:t>Soldaini</a:t>
                      </a:r>
                      <a:r>
                        <a:rPr dirty="0"/>
                        <a:t>, Arman Cohan, Minjoon Seo, Kyle Lo — 2025</a:t>
                      </a:r>
                      <a:r>
                        <a:rPr lang="en-US" dirty="0"/>
                        <a:t> </a:t>
                      </a:r>
                      <a:r>
                        <a:rPr lang="en-IN" sz="950" b="1" i="1" kern="1200" dirty="0">
                          <a:solidFill>
                            <a:srgbClr val="243B53"/>
                          </a:solidFill>
                          <a:latin typeface="Arial"/>
                          <a:ea typeface="+mn-ea"/>
                          <a:cs typeface="+mn-cs"/>
                        </a:rPr>
                        <a:t>Publication:</a:t>
                      </a:r>
                      <a:r>
                        <a:rPr lang="en-IN" sz="950" i="1" kern="1200" dirty="0">
                          <a:solidFill>
                            <a:srgbClr val="243B53"/>
                          </a:solidFill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950" b="1" i="1" kern="1200" dirty="0">
                          <a:solidFill>
                            <a:srgbClr val="243B53"/>
                          </a:solidFill>
                          <a:latin typeface="Arial"/>
                          <a:ea typeface="+mn-ea"/>
                          <a:cs typeface="+mn-cs"/>
                        </a:rPr>
                        <a:t>AAAI 2025 — Proceedings of the AAAI Conference on Artificial Intelligence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43B53"/>
                          </a:solidFill>
                          <a:latin typeface="Arial"/>
                        </a:defRPr>
                      </a:pPr>
                      <a:r>
                        <a:rPr dirty="0"/>
                        <a:t>Routing mechanism over multiple domain-specific expert embedding models.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43B53"/>
                          </a:solidFill>
                          <a:latin typeface="Arial"/>
                        </a:defRPr>
                      </a:pPr>
                      <a:r>
                        <a:t>Selects the most appropriate retrieval expert for each query and demonstrates improved retrieval performance over single/general-purpose embedding models.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43B53"/>
                          </a:solidFill>
                          <a:latin typeface="Arial"/>
                        </a:defRPr>
                      </a:pPr>
                      <a:r>
                        <a:rPr dirty="0"/>
                        <a:t>Focuses mainly on routing among expert dense embedding models rather than feedback-driven selection among heterogeneous lexical, semantic and hybrid retrieval strategies using historical evidence outcomes.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56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8AAD"/>
                          </a:solidFill>
                          <a:latin typeface="Arial"/>
                          <a:hlinkClick r:id="rId3"/>
                        </a:rPr>
                        <a:t>MoR: Better Handling Diverse Queries with a Mixture of Sparse, Dense, and Human Retrievers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i="1">
                          <a:solidFill>
                            <a:srgbClr val="243B53"/>
                          </a:solidFill>
                          <a:latin typeface="Arial"/>
                        </a:defRPr>
                      </a:pPr>
                      <a:r>
                        <a:rPr dirty="0" err="1"/>
                        <a:t>Jushaan</a:t>
                      </a:r>
                      <a:r>
                        <a:rPr dirty="0"/>
                        <a:t> Singh Kalra— 2025</a:t>
                      </a:r>
                      <a:endParaRPr lang="en-US" dirty="0"/>
                    </a:p>
                    <a:p>
                      <a:pPr>
                        <a:defRPr sz="950" i="1">
                          <a:solidFill>
                            <a:srgbClr val="243B53"/>
                          </a:solidFill>
                          <a:latin typeface="Arial"/>
                        </a:defRPr>
                      </a:pPr>
                      <a:r>
                        <a:rPr lang="en-IN" sz="950" b="1" i="1" kern="1200" dirty="0">
                          <a:solidFill>
                            <a:srgbClr val="243B53"/>
                          </a:solidFill>
                          <a:latin typeface="Arial"/>
                          <a:ea typeface="+mn-ea"/>
                          <a:cs typeface="+mn-cs"/>
                        </a:rPr>
                        <a:t>Publication:</a:t>
                      </a:r>
                      <a:r>
                        <a:rPr lang="en-IN" sz="950" i="1" kern="1200" dirty="0">
                          <a:solidFill>
                            <a:srgbClr val="243B53"/>
                          </a:solidFill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950" b="1" i="1" kern="1200" dirty="0">
                          <a:solidFill>
                            <a:srgbClr val="243B53"/>
                          </a:solidFill>
                          <a:latin typeface="Arial"/>
                          <a:ea typeface="+mn-ea"/>
                          <a:cs typeface="+mn-cs"/>
                        </a:rPr>
                        <a:t>EMNLP 2025 — Proceedings of the 2025 Conference on Empirical Methods in Natural Language Processing</a:t>
                      </a:r>
                      <a:endParaRPr dirty="0"/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43B53"/>
                          </a:solidFill>
                          <a:latin typeface="Arial"/>
                        </a:defRPr>
                      </a:pPr>
                      <a:r>
                        <a:rPr dirty="0"/>
                        <a:t>Zero-shot mixture of heterogeneous sparse, dense and human retrievers.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43B53"/>
                          </a:solidFill>
                          <a:latin typeface="Arial"/>
                        </a:defRPr>
                      </a:pPr>
                      <a:r>
                        <a:rPr dirty="0"/>
                        <a:t>Demonstrates that combining heterogeneous retrievers can improve retrieval performance for diverse information needs.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43B53"/>
                          </a:solidFill>
                          <a:latin typeface="Arial"/>
                        </a:defRPr>
                      </a:pPr>
                      <a:r>
                        <a:t>Uses a weighted retriever mixture but does not implement the proposed feedback-driven learning mechanism that stores retrieval experience and uses evidence outcomes for future strategy selection.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56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8AAD"/>
                          </a:solidFill>
                          <a:latin typeface="Arial"/>
                          <a:hlinkClick r:id="rId4"/>
                        </a:rPr>
                        <a:t>Lightweight Query Routing for Adaptive RAG: A Baseline Study on RAGRouter-Bench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i="1">
                          <a:solidFill>
                            <a:srgbClr val="243B53"/>
                          </a:solidFill>
                          <a:latin typeface="Arial"/>
                        </a:defRPr>
                      </a:pPr>
                      <a:r>
                        <a:rPr dirty="0"/>
                        <a:t>Prakhar Bansal, Shivangi Agarwal — 2026</a:t>
                      </a:r>
                      <a:r>
                        <a:rPr lang="en-US" dirty="0"/>
                        <a:t> </a:t>
                      </a:r>
                      <a:r>
                        <a:rPr lang="en-IN" sz="950" b="1" i="1" kern="1200" dirty="0">
                          <a:solidFill>
                            <a:srgbClr val="243B53"/>
                          </a:solidFill>
                          <a:latin typeface="Arial"/>
                          <a:ea typeface="+mn-ea"/>
                          <a:cs typeface="+mn-cs"/>
                        </a:rPr>
                        <a:t>Publication:</a:t>
                      </a:r>
                      <a:r>
                        <a:rPr lang="en-IN" sz="950" i="1" kern="1200" dirty="0">
                          <a:solidFill>
                            <a:srgbClr val="243B53"/>
                          </a:solidFill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950" b="1" i="1" kern="1200" dirty="0" err="1">
                          <a:solidFill>
                            <a:srgbClr val="243B53"/>
                          </a:solidFill>
                          <a:latin typeface="Arial"/>
                          <a:ea typeface="+mn-ea"/>
                          <a:cs typeface="+mn-cs"/>
                        </a:rPr>
                        <a:t>arXiv</a:t>
                      </a:r>
                      <a:r>
                        <a:rPr lang="en-IN" sz="950" b="1" i="1" kern="1200" dirty="0">
                          <a:solidFill>
                            <a:srgbClr val="243B53"/>
                          </a:solidFill>
                          <a:latin typeface="Arial"/>
                          <a:ea typeface="+mn-ea"/>
                          <a:cs typeface="+mn-cs"/>
                        </a:rPr>
                        <a:t> preprint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43B53"/>
                          </a:solidFill>
                          <a:latin typeface="Arial"/>
                        </a:defRPr>
                      </a:pPr>
                      <a:r>
                        <a:t>Lightweight classifier-based query routing using TF-IDF, MiniLM embeddings and structural query features.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43B53"/>
                          </a:solidFill>
                          <a:latin typeface="Arial"/>
                        </a:defRPr>
                      </a:pPr>
                      <a:r>
                        <a:t>Demonstrates that lightweight classifiers can route queries among different RAG strategies efficiently.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43B53"/>
                          </a:solidFill>
                          <a:latin typeface="Arial"/>
                        </a:defRPr>
                      </a:pPr>
                      <a:r>
                        <a:rPr dirty="0"/>
                        <a:t>Focuses primarily on query-side routing and does not use deployment-time retrieval evidence, confidence signals and historical retrieval outcomes as a feedback loop for strategy learning.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827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8AAD"/>
                          </a:solidFill>
                          <a:latin typeface="Arial"/>
                          <a:hlinkClick r:id="rId5"/>
                        </a:rPr>
                        <a:t>Retriever Portfolios: A Principled Approach to Adaptive RAG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i="1">
                          <a:solidFill>
                            <a:srgbClr val="243B53"/>
                          </a:solidFill>
                          <a:latin typeface="Arial"/>
                        </a:defRPr>
                      </a:pPr>
                      <a:r>
                        <a:rPr dirty="0"/>
                        <a:t>Miltiadis </a:t>
                      </a:r>
                      <a:r>
                        <a:rPr dirty="0" err="1"/>
                        <a:t>Stouras</a:t>
                      </a:r>
                      <a:r>
                        <a:rPr dirty="0"/>
                        <a:t>, Vincent Cohen-</a:t>
                      </a:r>
                      <a:r>
                        <a:rPr dirty="0" err="1"/>
                        <a:t>Addad</a:t>
                      </a:r>
                      <a:r>
                        <a:rPr dirty="0"/>
                        <a:t>, Silvio Lattanzi, Ola Svensson — 2026</a:t>
                      </a:r>
                      <a:r>
                        <a:rPr lang="en-US" dirty="0"/>
                        <a:t> </a:t>
                      </a:r>
                      <a:r>
                        <a:rPr lang="en-IN" sz="950" b="1" i="1" kern="1200" dirty="0">
                          <a:solidFill>
                            <a:srgbClr val="243B53"/>
                          </a:solidFill>
                          <a:latin typeface="Arial"/>
                          <a:ea typeface="+mn-ea"/>
                          <a:cs typeface="+mn-cs"/>
                        </a:rPr>
                        <a:t>Publication:</a:t>
                      </a:r>
                      <a:r>
                        <a:rPr lang="en-IN" sz="950" i="1" kern="1200" dirty="0">
                          <a:solidFill>
                            <a:srgbClr val="243B53"/>
                          </a:solidFill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950" b="1" i="1" kern="1200" dirty="0" err="1">
                          <a:solidFill>
                            <a:srgbClr val="243B53"/>
                          </a:solidFill>
                          <a:latin typeface="Arial"/>
                          <a:ea typeface="+mn-ea"/>
                          <a:cs typeface="+mn-cs"/>
                        </a:rPr>
                        <a:t>arXiv</a:t>
                      </a:r>
                      <a:r>
                        <a:rPr lang="en-IN" sz="950" b="1" i="1" kern="1200" dirty="0">
                          <a:solidFill>
                            <a:srgbClr val="243B53"/>
                          </a:solidFill>
                          <a:latin typeface="Arial"/>
                          <a:ea typeface="+mn-ea"/>
                          <a:cs typeface="+mn-cs"/>
                        </a:rPr>
                        <a:t> preprint</a:t>
                      </a:r>
                      <a:endParaRPr dirty="0"/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43B53"/>
                          </a:solidFill>
                          <a:latin typeface="Arial"/>
                        </a:defRPr>
                      </a:pPr>
                      <a:r>
                        <a:t>Learned retriever portfolios and router pipeline for heterogeneous queries.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43B53"/>
                          </a:solidFill>
                          <a:latin typeface="Arial"/>
                        </a:defRPr>
                      </a:pPr>
                      <a:r>
                        <a:t>Automatically selects diverse subsets of retrievers and demonstrates improvements over single-retriever and naive multi-retriever approaches.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43B53"/>
                          </a:solidFill>
                          <a:latin typeface="Arial"/>
                        </a:defRPr>
                      </a:pPr>
                      <a:r>
                        <a:rPr dirty="0"/>
                        <a:t>Focuses on portfolio construction and routing rather than a continual feedback mechanism that records evidence quality and retrieval outcomes during deployment to improve future strategy selection.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654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8AAD"/>
                          </a:solidFill>
                          <a:latin typeface="Arial"/>
                          <a:hlinkClick r:id="rId6"/>
                        </a:rPr>
                        <a:t>CIIR@LiveRAG: Optimizing Multi-Agent RAG Self-Training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i="1">
                          <a:solidFill>
                            <a:srgbClr val="243B53"/>
                          </a:solidFill>
                          <a:latin typeface="Arial"/>
                        </a:defRPr>
                      </a:pPr>
                      <a:r>
                        <a:rPr dirty="0"/>
                        <a:t>Salemi et al. — 2025</a:t>
                      </a:r>
                      <a:r>
                        <a:rPr lang="en-US" dirty="0"/>
                        <a:t> </a:t>
                      </a:r>
                      <a:r>
                        <a:rPr lang="en-IN" sz="950" b="1" i="1" kern="1200" dirty="0">
                          <a:solidFill>
                            <a:srgbClr val="243B53"/>
                          </a:solidFill>
                          <a:latin typeface="Arial"/>
                          <a:ea typeface="+mn-ea"/>
                          <a:cs typeface="+mn-cs"/>
                        </a:rPr>
                        <a:t>Publication:</a:t>
                      </a:r>
                      <a:r>
                        <a:rPr lang="en-IN" sz="950" i="1" kern="1200" dirty="0">
                          <a:solidFill>
                            <a:srgbClr val="243B53"/>
                          </a:solidFill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950" b="1" i="1" kern="1200" dirty="0" err="1">
                          <a:solidFill>
                            <a:srgbClr val="243B53"/>
                          </a:solidFill>
                          <a:latin typeface="Arial"/>
                          <a:ea typeface="+mn-ea"/>
                          <a:cs typeface="+mn-cs"/>
                        </a:rPr>
                        <a:t>LiveRAG</a:t>
                      </a:r>
                      <a:r>
                        <a:rPr lang="en-IN" sz="950" b="1" i="1" kern="1200" dirty="0">
                          <a:solidFill>
                            <a:srgbClr val="243B53"/>
                          </a:solidFill>
                          <a:latin typeface="Arial"/>
                          <a:ea typeface="+mn-ea"/>
                          <a:cs typeface="+mn-cs"/>
                        </a:rPr>
                        <a:t> Challenge at ACM SIGIR 2025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43B53"/>
                          </a:solidFill>
                          <a:latin typeface="Arial"/>
                        </a:defRPr>
                      </a:pPr>
                      <a:r>
                        <a:t>Multi-agent retrieval and reasoning with self-training/optimization.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43B53"/>
                          </a:solidFill>
                          <a:latin typeface="Arial"/>
                        </a:defRPr>
                      </a:pPr>
                      <a:r>
                        <a:rPr dirty="0"/>
                        <a:t>Explores coordination and optimization of multiple agents in RAG systems.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43B53"/>
                          </a:solidFill>
                          <a:latin typeface="Arial"/>
                        </a:defRPr>
                      </a:pPr>
                      <a:r>
                        <a:rPr dirty="0"/>
                        <a:t>Does not specifically implement the proposed combination of query traits, heterogeneous lexical/semantic/hybrid retrieval, evidence-confidence scoring and historical strategy-outcome memory for future retrieval routing.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68AAD"/>
                </a:solidFill>
                <a:latin typeface="Arial"/>
              </a:defRPr>
            </a:pPr>
            <a:r>
              <a:t>LITERATURE REVIEW &amp; STATE-OF-THE-ART</a:t>
            </a:r>
          </a:p>
          <a:p>
            <a:pPr>
              <a:defRPr sz="2800" b="1">
                <a:solidFill>
                  <a:srgbClr val="102A43"/>
                </a:solidFill>
                <a:latin typeface="Georgia"/>
              </a:defRPr>
            </a:pPr>
            <a:r>
              <a:t>Literature Review II — Adaptive &amp; Dynamic Retrieval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9326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27D98"/>
                </a:solidFill>
                <a:latin typeface="Arial"/>
              </a:defRPr>
            </a:pPr>
            <a:r>
              <a:t>Adaptive Confidence-Aware Multi-Agent Retrieval System | Vishal S | 22MIS1165 | VIT Chennai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4652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02A43"/>
                </a:solidFill>
                <a:latin typeface="Arial"/>
              </a:defRPr>
            </a:pPr>
            <a:r>
              <a:t>6 / 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16768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5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S. No.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Paper Title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Author(s) &amp; Year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Method / Approach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Contribution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Identified Research Gap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8AAD"/>
                          </a:solidFill>
                          <a:hlinkClick r:id="rId2"/>
                        </a:rPr>
                        <a:t>When Not to Trust Language Models: Parametric vs Non-Parametric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i="1">
                          <a:solidFill>
                            <a:srgbClr val="243B53"/>
                          </a:solidFill>
                        </a:defRPr>
                      </a:pPr>
                      <a:r>
                        <a:t>Mallen et al., 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Selective retrieval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Investigated when external retrieval is necessary vs parametric memory.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Focuses on retrieval necessity rather than strategy selection.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8AAD"/>
                          </a:solidFill>
                          <a:hlinkClick r:id="rId3"/>
                        </a:rPr>
                        <a:t>Interleaving Retrieval with Chain-of-Thought Reasoning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i="1">
                          <a:solidFill>
                            <a:srgbClr val="243B53"/>
                          </a:solidFill>
                        </a:defRPr>
                      </a:pPr>
                      <a:r>
                        <a:t>Trivedi et al., 2023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Interleaved retrieval and reasoning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Combines reasoning steps and retrieval for multi-step questions.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Does not evaluate lexical vs dense vs hybrid strategy selection.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8AAD"/>
                          </a:solidFill>
                          <a:hlinkClick r:id="rId4"/>
                        </a:rPr>
                        <a:t>Precise Zero-Shot Dense Retrieval without Relevance Labels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i="1">
                          <a:solidFill>
                            <a:srgbClr val="243B53"/>
                          </a:solidFill>
                        </a:defRPr>
                      </a:pPr>
                      <a:r>
                        <a:t>Gao et al., 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Hypothetical Document Embeddings (HyDE)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Improves zero-shot dense retrieval without relevance labels.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Remains focused on dense retrieval rather than strategy routing.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8AAD"/>
                          </a:solidFill>
                          <a:hlinkClick r:id="rId5"/>
                        </a:rPr>
                        <a:t>Self-RAG: Learning to Retrieve, Generate, and Critique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i="1">
                          <a:solidFill>
                            <a:srgbClr val="243B53"/>
                          </a:solidFill>
                        </a:defRPr>
                      </a:pPr>
                      <a:r>
                        <a:t>Asai et al., 2024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Retrieval, generation &amp; reflection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Allows a system to decide when retrieval and critique are useful.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Does not directly implement strategy selection among BM25/Semantic/Hybrid.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8AAD"/>
                          </a:solidFill>
                          <a:hlinkClick r:id="rId6"/>
                        </a:rPr>
                        <a:t>Adaptive-RAG: Learning to Adapt RAG through Question Complexity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i="1">
                          <a:solidFill>
                            <a:srgbClr val="243B53"/>
                          </a:solidFill>
                        </a:defRPr>
                      </a:pPr>
                      <a:r>
                        <a:t>Jeong et al.,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Query-complexity adaptive routing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Dynamically selects retrieval complexity based on question difficulty.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Our work investigates historical strategy feedback rather than query complexity alone.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68AAD"/>
                </a:solidFill>
                <a:latin typeface="Arial"/>
              </a:defRPr>
            </a:pPr>
            <a:r>
              <a:t>LITERATURE REVIEW &amp; STATE-OF-THE-ART</a:t>
            </a:r>
          </a:p>
          <a:p>
            <a:pPr>
              <a:defRPr sz="2800" b="1">
                <a:solidFill>
                  <a:srgbClr val="102A43"/>
                </a:solidFill>
                <a:latin typeface="Georgia"/>
              </a:defRPr>
            </a:pPr>
            <a:r>
              <a:t>Literature Review III — Corrective Retrieval &amp;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9326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27D98"/>
                </a:solidFill>
                <a:latin typeface="Arial"/>
              </a:defRPr>
            </a:pPr>
            <a:r>
              <a:t>Adaptive Confidence-Aware Multi-Agent Retrieval System | Vishal S | 22MIS1165 | VIT Chennai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4652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02A43"/>
                </a:solidFill>
                <a:latin typeface="Arial"/>
              </a:defRPr>
            </a:pPr>
            <a:r>
              <a:t>7 / 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16768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5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S. No.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Paper Title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Author(s) &amp; Year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Method / Approach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Contribution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Identified Research Gap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8AAD"/>
                          </a:solidFill>
                          <a:hlinkClick r:id="rId2"/>
                        </a:rPr>
                        <a:t>Corrective Retrieval Augmented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i="1">
                          <a:solidFill>
                            <a:srgbClr val="243B53"/>
                          </a:solidFill>
                        </a:defRPr>
                      </a:pPr>
                      <a:r>
                        <a:t>Yan et al.,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Retrieval evaluation and correction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Evaluates retrieved evidence and invokes corrective retrieval when needed.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Focuses on correction rather than long-term strategy learning.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8AAD"/>
                          </a:solidFill>
                          <a:hlinkClick r:id="rId3"/>
                        </a:rPr>
                        <a:t>Blended RAG: Improving RAG with Hybrid Query Retrievers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i="1">
                          <a:solidFill>
                            <a:srgbClr val="243B53"/>
                          </a:solidFill>
                        </a:defRPr>
                      </a:pPr>
                      <a:r>
                        <a:t>Sawarkar et al., 2024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Hybrid dense and sparse retrieval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Combines complementary retrieval mechanisms to improve recall.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Does not establish a continual feedback loop for strategy learning.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8AAD"/>
                          </a:solidFill>
                          <a:hlinkClick r:id="rId4"/>
                        </a:rPr>
                        <a:t>RAGAS: Automated Evaluation of Retrieval Augmented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i="1">
                          <a:solidFill>
                            <a:srgbClr val="243B53"/>
                          </a:solidFill>
                        </a:defRPr>
                      </a:pPr>
                      <a:r>
                        <a:t>Es et al.,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Reference-free RAG 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Provides metrics for evaluating context relevance and faithfulness.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Primarily an evaluation framework rather than a strategy learner.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8AAD"/>
                          </a:solidFill>
                          <a:hlinkClick r:id="rId5"/>
                        </a:rPr>
                        <a:t>ARES: Automated Evaluation Framework for RAG Systems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i="1">
                          <a:solidFill>
                            <a:srgbClr val="243B53"/>
                          </a:solidFill>
                        </a:defRPr>
                      </a:pPr>
                      <a:r>
                        <a:t>Saad-Falcon et al., 2024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Automated RAG evaluation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Provides automated evaluation judges for context and answer relevance.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Focuses on evaluation rather than future strategy selection.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8AAD"/>
                          </a:solidFill>
                          <a:hlinkClick r:id="rId6"/>
                        </a:rPr>
                        <a:t>Lost in the Middle: How Language Models Use Long Contexts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i="1">
                          <a:solidFill>
                            <a:srgbClr val="243B53"/>
                          </a:solidFill>
                        </a:defRPr>
                      </a:pPr>
                      <a:r>
                        <a:t>Liu et al.,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Long-context behavior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Shows relevant information is poorly utilized in middle long contexts.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Identifies context utilization limits but does not solve strategy routing.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68AAD"/>
                </a:solidFill>
                <a:latin typeface="Arial"/>
              </a:defRPr>
            </a:pPr>
            <a:r>
              <a:t>LITERATURE REVIEW &amp; STATE-OF-THE-ART</a:t>
            </a:r>
          </a:p>
          <a:p>
            <a:pPr>
              <a:defRPr sz="2800" b="1">
                <a:solidFill>
                  <a:srgbClr val="102A43"/>
                </a:solidFill>
                <a:latin typeface="Georgia"/>
              </a:defRPr>
            </a:pPr>
            <a:r>
              <a:t>Literature Review IV — Domain Adaptation &amp; Routing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9326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27D98"/>
                </a:solidFill>
                <a:latin typeface="Arial"/>
              </a:defRPr>
            </a:pPr>
            <a:r>
              <a:t>Adaptive Confidence-Aware Multi-Agent Retrieval System | Vishal S | 22MIS1165 | VIT Chennai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4652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02A43"/>
                </a:solidFill>
                <a:latin typeface="Arial"/>
              </a:defRPr>
            </a:pPr>
            <a:r>
              <a:t>8 / 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16768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5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S. No.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Paper Title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Author(s) &amp; Year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Method / Approach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Contribution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Identified Research Gap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8AAD"/>
                          </a:solidFill>
                          <a:hlinkClick r:id="rId2"/>
                        </a:rPr>
                        <a:t>RAFT: Adapting Language Model to Domain Specific 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i="1">
                          <a:solidFill>
                            <a:srgbClr val="243B53"/>
                          </a:solidFill>
                        </a:defRPr>
                      </a:pPr>
                      <a:r>
                        <a:t>Zhang et al.,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Retrieval-Augmented Fine-Tuning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Improves domain-specific RAG behavior using retrieved evidence.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Focuses on generator adaptation rather than retrieval strategy learning.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8AAD"/>
                          </a:solidFill>
                          <a:hlinkClick r:id="rId3"/>
                        </a:rPr>
                        <a:t>BGE-M3-Embedding: Multi-Functionality Text Embeddings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i="1">
                          <a:solidFill>
                            <a:srgbClr val="243B53"/>
                          </a:solidFill>
                        </a:defRPr>
                      </a:pPr>
                      <a:r>
                        <a:t>Chen et al., 2024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Multi-functionality text embeddings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Supports dense, sparse, and multi-vector retrieval in one model.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Model capability innovation without historical strategy-outcome learning.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8AAD"/>
                          </a:solidFill>
                          <a:hlinkClick r:id="rId4"/>
                        </a:rPr>
                        <a:t>RouterRetriever: Routing over a Mixture of Expert Embeddings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i="1">
                          <a:solidFill>
                            <a:srgbClr val="243B53"/>
                          </a:solidFill>
                        </a:defRPr>
                      </a:pPr>
                      <a:r>
                        <a:t>Lee et al.,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Routing over expert embeddings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Routes queries across domain-expert embedding models.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Focuses on dense expert models rather than lexical/dense/hybrid feedback.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8AAD"/>
                          </a:solidFill>
                          <a:hlinkClick r:id="rId5"/>
                        </a:rPr>
                        <a:t>CIIR@LiveRAG 2025: Optimizing Multi-Agent RAG Self-Training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i="1">
                          <a:solidFill>
                            <a:srgbClr val="243B53"/>
                          </a:solidFill>
                        </a:defRPr>
                      </a:pPr>
                      <a:r>
                        <a:t>Salemi et al., 2025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Multi-agent retrieval self-training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Coordinates specialized retrieval and reasoning agent components.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Does not specifically implement heterogeneous strategy memory.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8AAD"/>
                          </a:solidFill>
                          <a:hlinkClick r:id="rId6"/>
                        </a:rPr>
                        <a:t>MoR: Better Handling Diverse Queries with Mixture of Retrievers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i="1">
                          <a:solidFill>
                            <a:srgbClr val="243B53"/>
                          </a:solidFill>
                        </a:defRPr>
                      </a:pPr>
                      <a:r>
                        <a:t>Kalra et al.,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Mixture of heterogeneous retrievers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Combines sparse, dense, and human retrievers.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Retriever portfolio selection differs from deployment-feedback learning.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68AAD"/>
                </a:solidFill>
                <a:latin typeface="Arial"/>
              </a:defRPr>
            </a:pPr>
            <a:r>
              <a:t>LITERATURE REVIEW &amp; STATE-OF-THE-ART</a:t>
            </a:r>
          </a:p>
          <a:p>
            <a:pPr>
              <a:defRPr sz="2800" b="1">
                <a:solidFill>
                  <a:srgbClr val="102A43"/>
                </a:solidFill>
                <a:latin typeface="Georgia"/>
              </a:defRPr>
            </a:pPr>
            <a:r>
              <a:t>Literature Review V — Recent Adaptive RAG Research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9326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27D98"/>
                </a:solidFill>
                <a:latin typeface="Arial"/>
              </a:defRPr>
            </a:pPr>
            <a:r>
              <a:t>Adaptive Confidence-Aware Multi-Agent Retrieval System | Vishal S | 22MIS1165 | VIT Chennai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4652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02A43"/>
                </a:solidFill>
                <a:latin typeface="Arial"/>
              </a:defRPr>
            </a:pPr>
            <a:r>
              <a:t>9 / 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16768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5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S. No.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Paper Title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Author(s) &amp; Year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Method / Approach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Contribution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Identified Research Gap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8AAD"/>
                          </a:solidFill>
                          <a:hlinkClick r:id="rId2"/>
                        </a:rPr>
                        <a:t>Agentic Retrieval-Augmented Generation: A Survey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i="1">
                          <a:solidFill>
                            <a:srgbClr val="243B53"/>
                          </a:solidFill>
                        </a:defRPr>
                      </a:pPr>
                      <a:r>
                        <a:t>Singh et al.,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Agentic RAG survey and taxonomy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Organizes planning, reflection, tool use, and multi-agent retrieval.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Survey work rather than empirical strategy-learning implementation.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8AAD"/>
                          </a:solidFill>
                          <a:hlinkClick r:id="rId3"/>
                        </a:rPr>
                        <a:t>Efficient Context Selection: Just Adaptive-k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i="1">
                          <a:solidFill>
                            <a:srgbClr val="243B53"/>
                          </a:solidFill>
                        </a:defRPr>
                      </a:pPr>
                      <a:r>
                        <a:t>Taguchi et al., 2025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Adaptive retrieval depth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Dynamically adjusts the number of retrieved chunks per query.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Adapts retrieval quantity (k) rather than retrieval family.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8AAD"/>
                          </a:solidFill>
                          <a:hlinkClick r:id="rId4"/>
                        </a:rPr>
                        <a:t>Lightweight Query Routing for Adaptive 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i="1">
                          <a:solidFill>
                            <a:srgbClr val="243B53"/>
                          </a:solidFill>
                        </a:defRPr>
                      </a:pPr>
                      <a:r>
                        <a:t>Bansal &amp; Agarwal,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Lightweight query routing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Uses efficient routing for adaptive retrieval systems.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Focuses on query complexity rather than empirical evidence feedback.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8AAD"/>
                          </a:solidFill>
                          <a:hlinkClick r:id="rId5"/>
                        </a:rPr>
                        <a:t>Retriever Portfolios: A Principled Approach to Adaptive RAG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i="1">
                          <a:solidFill>
                            <a:srgbClr val="243B53"/>
                          </a:solidFill>
                        </a:defRPr>
                      </a:pPr>
                      <a:r>
                        <a:t>Stouras et al., 2026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Retriever portfolio selection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Selects combinations of retrieval systems.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Portfolio optimization differs from deployment-feedback learning.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8AAD"/>
                          </a:solidFill>
                          <a:hlinkClick r:id="rId6"/>
                        </a:rPr>
                        <a:t>Facet-Level Tracing of Evidence Uncertainty in 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i="1">
                          <a:solidFill>
                            <a:srgbClr val="243B53"/>
                          </a:solidFill>
                        </a:defRPr>
                      </a:pPr>
                      <a:r>
                        <a:t>Elchafei et al.,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Evidence uncertainty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Studies uncertainty and retrieval-generation misalignment.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Diagnostic analysis rather than proactive strategy learning.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68AAD"/>
                </a:solidFill>
                <a:latin typeface="Arial"/>
              </a:defRPr>
            </a:pPr>
            <a:r>
              <a:t>REVIEW 2 RESEARCH PRESENTATION</a:t>
            </a:r>
          </a:p>
          <a:p>
            <a:pPr>
              <a:defRPr sz="2800" b="1">
                <a:solidFill>
                  <a:srgbClr val="102A43"/>
                </a:solidFill>
                <a:latin typeface="Georgia"/>
              </a:defRPr>
            </a:pPr>
            <a:r>
              <a:t>Literature Synthesis &amp; Identified Research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9326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27D98"/>
                </a:solidFill>
                <a:latin typeface="Arial"/>
              </a:defRPr>
            </a:pPr>
            <a:r>
              <a:t>Adaptive Confidence-Aware Multi-Agent Retrieval System | Vishal S | 22MIS1165 | VIT Chennai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4652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02A43"/>
                </a:solidFill>
                <a:latin typeface="Arial"/>
              </a:defRPr>
            </a:pPr>
            <a:r>
              <a:t>10 /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68AAD"/>
                </a:solidFill>
              </a:defRPr>
            </a:pPr>
            <a:r>
              <a:t>SYNTHESIS OF MAJOR RESEARCH STREAMS</a:t>
            </a:r>
          </a:p>
          <a:p>
            <a:pPr>
              <a:spcAft>
                <a:spcPts val="200"/>
              </a:spcAft>
              <a:defRPr sz="1300" b="1">
                <a:solidFill>
                  <a:srgbClr val="102A43"/>
                </a:solidFill>
              </a:defRPr>
            </a:pPr>
            <a:r>
              <a:t>1. Lexical to Dense</a:t>
            </a:r>
          </a:p>
          <a:p>
            <a:pPr>
              <a:spcAft>
                <a:spcPts val="800"/>
              </a:spcAft>
              <a:defRPr sz="1200">
                <a:solidFill>
                  <a:srgbClr val="243B53"/>
                </a:solidFill>
              </a:defRPr>
            </a:pPr>
            <a:r>
              <a:t>BM25 (2009) ──► DPR (2020) ──► ColBERTv2 (2022)</a:t>
            </a:r>
          </a:p>
          <a:p>
            <a:pPr>
              <a:spcAft>
                <a:spcPts val="200"/>
              </a:spcAft>
              <a:defRPr sz="1300" b="1">
                <a:solidFill>
                  <a:srgbClr val="102A43"/>
                </a:solidFill>
              </a:defRPr>
            </a:pPr>
            <a:r>
              <a:t>2. Adaptive Complexity</a:t>
            </a:r>
          </a:p>
          <a:p>
            <a:pPr>
              <a:spcAft>
                <a:spcPts val="800"/>
              </a:spcAft>
              <a:defRPr sz="1200">
                <a:solidFill>
                  <a:srgbClr val="243B53"/>
                </a:solidFill>
              </a:defRPr>
            </a:pPr>
            <a:r>
              <a:t>Adaptive-RAG (Jeong 2024) routes by question difficulty.</a:t>
            </a:r>
          </a:p>
          <a:p>
            <a:pPr>
              <a:spcAft>
                <a:spcPts val="200"/>
              </a:spcAft>
              <a:defRPr sz="1300" b="1">
                <a:solidFill>
                  <a:srgbClr val="102A43"/>
                </a:solidFill>
              </a:defRPr>
            </a:pPr>
            <a:r>
              <a:t>3. Corrective Filtering</a:t>
            </a:r>
          </a:p>
          <a:p>
            <a:pPr>
              <a:spcAft>
                <a:spcPts val="800"/>
              </a:spcAft>
              <a:defRPr sz="1200">
                <a:solidFill>
                  <a:srgbClr val="243B53"/>
                </a:solidFill>
              </a:defRPr>
            </a:pPr>
            <a:r>
              <a:t>CRAG (Yan 2024) &amp; Self-RAG (Asai 2024) evaluate context quality.</a:t>
            </a:r>
          </a:p>
          <a:p>
            <a:pPr>
              <a:spcAft>
                <a:spcPts val="200"/>
              </a:spcAft>
              <a:defRPr sz="1300" b="1">
                <a:solidFill>
                  <a:srgbClr val="102A43"/>
                </a:solidFill>
              </a:defRPr>
            </a:pPr>
            <a:r>
              <a:t>4. Multi-Agent RAG</a:t>
            </a:r>
          </a:p>
          <a:p>
            <a:pPr>
              <a:spcAft>
                <a:spcPts val="800"/>
              </a:spcAft>
              <a:defRPr sz="1200">
                <a:solidFill>
                  <a:srgbClr val="243B53"/>
                </a:solidFill>
              </a:defRPr>
            </a:pPr>
            <a:r>
              <a:t>CIIR@LiveRAG (Salemi 2025) coordinates specialized agents.</a:t>
            </a:r>
          </a:p>
          <a:p>
            <a:pPr>
              <a:spcAft>
                <a:spcPts val="200"/>
              </a:spcAft>
              <a:defRPr sz="1300" b="1">
                <a:solidFill>
                  <a:srgbClr val="102A43"/>
                </a:solidFill>
              </a:defRPr>
            </a:pPr>
            <a:r>
              <a:t>5. Retriever Routing</a:t>
            </a:r>
          </a:p>
          <a:p>
            <a:pPr>
              <a:spcAft>
                <a:spcPts val="800"/>
              </a:spcAft>
              <a:defRPr sz="1200">
                <a:solidFill>
                  <a:srgbClr val="243B53"/>
                </a:solidFill>
              </a:defRPr>
            </a:pPr>
            <a:r>
              <a:t>RouterRetriever (Lee 2025) &amp; Portfolios (Stouras 2026) blend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22415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4A261"/>
                </a:solidFill>
              </a:defRPr>
            </a:pPr>
            <a:r>
              <a:t>IDENTIFIED RESEARCH GAP &amp; OPPORTUNITY</a:t>
            </a:r>
          </a:p>
          <a:p>
            <a:pPr>
              <a:spcAft>
                <a:spcPts val="1000"/>
              </a:spcAft>
              <a:defRPr sz="1300">
                <a:solidFill>
                  <a:srgbClr val="243B53"/>
                </a:solidFill>
              </a:defRPr>
            </a:pPr>
            <a:r>
              <a:t>Existing research has separately explored adaptive retrieval, heterogeneous retriever combinations, evidence evaluation, corrective retrieval, and retriever routing.</a:t>
            </a:r>
          </a:p>
          <a:p>
            <a:pPr>
              <a:spcAft>
                <a:spcPts val="400"/>
              </a:spcAft>
              <a:defRPr sz="1300" b="1">
                <a:solidFill>
                  <a:srgbClr val="102A43"/>
                </a:solidFill>
              </a:defRPr>
            </a:pPr>
            <a:r>
              <a:t>THE UNEXPLORED RESEARCH OPPORTUNITY:</a:t>
            </a:r>
          </a:p>
          <a:p>
            <a:pPr>
              <a:defRPr sz="1300">
                <a:solidFill>
                  <a:srgbClr val="243B53"/>
                </a:solidFill>
              </a:defRPr>
            </a:pPr>
            <a:r>
              <a:t>A feedback-driven mechanism that records query characteristics, retrieval strategy, evidence confidence, and retrieval outcomes, and uses this historical experience to improve future selection among lexical, semantic, and hybrid retrieval strategies.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68AAD"/>
                </a:solidFill>
                <a:latin typeface="Arial"/>
              </a:defRPr>
            </a:pPr>
            <a:r>
              <a:t>REVIEW 2 RESEARCH PRESENTATION</a:t>
            </a:r>
          </a:p>
          <a:p>
            <a:pPr>
              <a:defRPr sz="2800" b="1">
                <a:solidFill>
                  <a:srgbClr val="102A43"/>
                </a:solidFill>
                <a:latin typeface="Georgia"/>
              </a:defRPr>
            </a:pPr>
            <a:r>
              <a:t>Scope and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9326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27D98"/>
                </a:solidFill>
                <a:latin typeface="Arial"/>
              </a:defRPr>
            </a:pPr>
            <a:r>
              <a:t>Adaptive Confidence-Aware Multi-Agent Retrieval System | Vishal S | 22MIS1165 | VIT Chennai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4652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02A43"/>
                </a:solidFill>
                <a:latin typeface="Arial"/>
              </a:defRPr>
            </a:pPr>
            <a:r>
              <a:t>11 /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628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68AAD"/>
                </a:solidFill>
              </a:defRPr>
            </a:pPr>
            <a:r>
              <a:t>SYSTEM SCOPE BOUNDARIES</a:t>
            </a:r>
          </a:p>
          <a:p>
            <a:pPr>
              <a:spcAft>
                <a:spcPts val="400"/>
              </a:spcAft>
              <a:defRPr sz="1400">
                <a:solidFill>
                  <a:srgbClr val="243B53"/>
                </a:solidFill>
              </a:defRPr>
            </a:pPr>
            <a:r>
              <a:t>• Document Ingestion: PDF and TXT document parsing via pypdf.</a:t>
            </a:r>
          </a:p>
          <a:p>
            <a:pPr>
              <a:spcAft>
                <a:spcPts val="400"/>
              </a:spcAft>
              <a:defRPr sz="1400">
                <a:solidFill>
                  <a:srgbClr val="243B53"/>
                </a:solidFill>
              </a:defRPr>
            </a:pPr>
            <a:r>
              <a:t>• Text Processing: 500-character sliding-window chunking with sentence boundary preservation.</a:t>
            </a:r>
          </a:p>
          <a:p>
            <a:pPr>
              <a:spcAft>
                <a:spcPts val="400"/>
              </a:spcAft>
              <a:defRPr sz="1400">
                <a:solidFill>
                  <a:srgbClr val="243B53"/>
                </a:solidFill>
              </a:defRPr>
            </a:pPr>
            <a:r>
              <a:t>• Heterogeneous Retrieval: BM25 lexical search, FAISS vector search, and MinMax hybrid score fusion.</a:t>
            </a:r>
          </a:p>
          <a:p>
            <a:pPr>
              <a:spcAft>
                <a:spcPts val="400"/>
              </a:spcAft>
              <a:defRPr sz="1400">
                <a:solidFill>
                  <a:srgbClr val="243B53"/>
                </a:solidFill>
              </a:defRPr>
            </a:pPr>
            <a:r>
              <a:t>• Evidence Evaluation: Multi-signal Evidence Judge, Confidence Scorer, and Extractive Grounded QA.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728655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2A43"/>
                </a:solidFill>
              </a:defRPr>
            </a:pPr>
            <a:r>
              <a:t>FORMAL PROBLEM STATEMENT</a:t>
            </a:r>
          </a:p>
          <a:p>
            <a:pPr>
              <a:spcAft>
                <a:spcPts val="1000"/>
              </a:spcAft>
              <a:defRPr sz="1400">
                <a:solidFill>
                  <a:srgbClr val="243B53"/>
                </a:solidFill>
              </a:defRPr>
            </a:pPr>
            <a:r>
              <a:t>A fixed retrieval strategy is not optimal for every query because queries differ in lexical specificity, semantic complexity, and evidence requirements. Standard RAG applications rely on a static retriever, leading to irrelevant context noise or missed exact keyword matches.</a:t>
            </a:r>
          </a:p>
          <a:p>
            <a:pPr>
              <a:defRPr sz="1400" b="1">
                <a:solidFill>
                  <a:srgbClr val="F4A261"/>
                </a:solidFill>
              </a:defRPr>
            </a:pPr>
            <a:r>
              <a:t>RESEARCH QUESTION: Can an adaptive multi-agent retrieval framework use query characteristics, evidence confidence, and historical retrieval outcomes to select better retrieval strategies than fixed retrieval baselines?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68AAD"/>
                </a:solidFill>
                <a:latin typeface="Arial"/>
              </a:defRPr>
            </a:pPr>
            <a:r>
              <a:t>REVIEW 2 RESEARCH PRESENTATION</a:t>
            </a:r>
          </a:p>
          <a:p>
            <a:pPr>
              <a:defRPr sz="2800" b="1">
                <a:solidFill>
                  <a:srgbClr val="102A43"/>
                </a:solidFill>
                <a:latin typeface="Georgia"/>
              </a:defRPr>
            </a:pPr>
            <a:r>
              <a:t>Key Research Challenges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9326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27D98"/>
                </a:solidFill>
                <a:latin typeface="Arial"/>
              </a:defRPr>
            </a:pPr>
            <a:r>
              <a:t>Adaptive Confidence-Aware Multi-Agent Retrieval System | Vishal S | 22MIS1165 | VIT Chennai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4652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02A43"/>
                </a:solidFill>
                <a:latin typeface="Arial"/>
              </a:defRPr>
            </a:pPr>
            <a:r>
              <a:t>12 /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8655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27048"/>
            <a:ext cx="10362895" cy="1197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68AAD"/>
                </a:solidFill>
                <a:latin typeface="Arial"/>
              </a:defRPr>
            </a:pPr>
            <a:r>
              <a:t>01. Query Diversity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02A43"/>
                </a:solidFill>
                <a:latin typeface="Arial"/>
              </a:rPr>
              <a:t>Problem: </a:t>
            </a:r>
            <a:r>
              <a:rPr sz="1300" b="0">
                <a:solidFill>
                  <a:srgbClr val="243B53"/>
                </a:solidFill>
                <a:latin typeface="Arial"/>
              </a:rPr>
              <a:t>Exact technical queries, conceptual questions and comparison queries can require different retrieval behavior.</a:t>
            </a:r>
          </a:p>
          <a:p>
            <a:r>
              <a:rPr sz="1300" b="1">
                <a:solidFill>
                  <a:srgbClr val="168AAD"/>
                </a:solidFill>
                <a:latin typeface="Arial"/>
              </a:rPr>
              <a:t>How We Address It: </a:t>
            </a:r>
            <a:r>
              <a:rPr sz="1300" b="0">
                <a:solidFill>
                  <a:srgbClr val="243B53"/>
                </a:solidFill>
                <a:latin typeface="Arial"/>
              </a:rPr>
              <a:t>Use a Query Trait Analyzer together with BM25, Semantic and Hybrid retrieval agents to handle different query characteristics.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90088"/>
            <a:ext cx="10728655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099816"/>
            <a:ext cx="10362895" cy="1197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02A43"/>
                </a:solidFill>
                <a:latin typeface="Arial"/>
              </a:defRPr>
            </a:pPr>
            <a:r>
              <a:t>02. Lexical–Semantic Trade-off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02A43"/>
                </a:solidFill>
                <a:latin typeface="Arial"/>
              </a:rPr>
              <a:t>Problem: </a:t>
            </a:r>
            <a:r>
              <a:rPr sz="1300" b="0">
                <a:solidFill>
                  <a:srgbClr val="243B53"/>
                </a:solidFill>
                <a:latin typeface="Arial"/>
              </a:rPr>
              <a:t>BM25 is strong for exact keyword matching, while semantic retrieval captures meaning and paraphrases. Choosing or balancing them is difficult.</a:t>
            </a:r>
          </a:p>
          <a:p>
            <a:r>
              <a:rPr sz="1300" b="1">
                <a:solidFill>
                  <a:srgbClr val="102A43"/>
                </a:solidFill>
                <a:latin typeface="Arial"/>
              </a:rPr>
              <a:t>How We Address It: </a:t>
            </a:r>
            <a:r>
              <a:rPr sz="1300" b="0">
                <a:solidFill>
                  <a:srgbClr val="243B53"/>
                </a:solidFill>
                <a:latin typeface="Arial"/>
              </a:rPr>
              <a:t>Use Hybrid score fusion and an Evidence Judge to compare retrieval evidence and identify the most suitable evidence/strategy.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62856"/>
            <a:ext cx="10728655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672584"/>
            <a:ext cx="10362895" cy="1197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4A261"/>
                </a:solidFill>
                <a:latin typeface="Arial"/>
              </a:defRPr>
            </a:pPr>
            <a:r>
              <a:t>03. Feedback Learning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02A43"/>
                </a:solidFill>
                <a:latin typeface="Arial"/>
              </a:rPr>
              <a:t>Problem: </a:t>
            </a:r>
            <a:r>
              <a:rPr sz="1300" b="0">
                <a:solidFill>
                  <a:srgbClr val="243B53"/>
                </a:solidFill>
                <a:latin typeface="Arial"/>
              </a:rPr>
              <a:t>A retrieval strategy that works well for one query type may not always be optimal for future queries. The system needs to learn from previous retrieval experience.</a:t>
            </a:r>
          </a:p>
          <a:p>
            <a:r>
              <a:rPr sz="1300" b="1">
                <a:solidFill>
                  <a:srgbClr val="F4A261"/>
                </a:solidFill>
                <a:latin typeface="Arial"/>
              </a:rPr>
              <a:t>How We Address It: </a:t>
            </a:r>
            <a:r>
              <a:rPr sz="1300" b="0">
                <a:solidFill>
                  <a:srgbClr val="243B53"/>
                </a:solidFill>
                <a:latin typeface="Arial"/>
              </a:rPr>
              <a:t>Store query characteristics, selected strategy, confidence and retrieval outcomes in Strategy Memory, then use this historical data to train a learning-based Strategy Selector in V2.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68AAD"/>
                </a:solidFill>
                <a:latin typeface="Arial"/>
              </a:defRPr>
            </a:pPr>
            <a:r>
              <a:t>REVIEW 2 RESEARCH PRESENTATION</a:t>
            </a:r>
          </a:p>
          <a:p>
            <a:pPr>
              <a:defRPr sz="2800" b="1">
                <a:solidFill>
                  <a:srgbClr val="102A43"/>
                </a:solidFill>
                <a:latin typeface="Georgia"/>
              </a:defRPr>
            </a:pPr>
            <a:r>
              <a:t>Primary &amp; Secondary Research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9326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27D98"/>
                </a:solidFill>
                <a:latin typeface="Arial"/>
              </a:defRPr>
            </a:pPr>
            <a:r>
              <a:t>Adaptive Confidence-Aware Multi-Agent Retrieval System | Vishal S | 22MIS1165 | VIT Chennai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4652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02A43"/>
                </a:solidFill>
                <a:latin typeface="Arial"/>
              </a:defRPr>
            </a:pPr>
            <a:r>
              <a:t>13 /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12801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4A261"/>
                </a:solidFill>
              </a:defRPr>
            </a:pPr>
            <a:r>
              <a:t>PRIMARY RESEARCH OBJECTIVE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To develop and evaluate an adaptive multi-agent RAG framework that combines heterogeneous retrieval agents, evidence evaluation, and confidence signals with feedback-driven strategy selection.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5266944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2889504"/>
            <a:ext cx="5047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A43"/>
                </a:solidFill>
              </a:defRPr>
            </a:pPr>
            <a:r>
              <a:t>01. Document Ingestion — </a:t>
            </a:r>
            <a:r>
              <a:rPr sz="1150" b="0">
                <a:solidFill>
                  <a:srgbClr val="243B53"/>
                </a:solidFill>
              </a:rPr>
              <a:t>Develop PDF/TXT ingestion and metadata-aware sliding chunking.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47872"/>
            <a:ext cx="5266944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3602736"/>
            <a:ext cx="5047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A43"/>
                </a:solidFill>
              </a:defRPr>
            </a:pPr>
            <a:r>
              <a:t>02. BM25 Retrieval Agent — </a:t>
            </a:r>
            <a:r>
              <a:rPr sz="1150" b="0">
                <a:solidFill>
                  <a:srgbClr val="243B53"/>
                </a:solidFill>
              </a:rPr>
              <a:t>Implement rank_bm25 lexical retrieval for exact keyword matching.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61104"/>
            <a:ext cx="5266944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4315968"/>
            <a:ext cx="5047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A43"/>
                </a:solidFill>
              </a:defRPr>
            </a:pPr>
            <a:r>
              <a:t>03. Semantic Vector Agent — </a:t>
            </a:r>
            <a:r>
              <a:rPr sz="1150" b="0">
                <a:solidFill>
                  <a:srgbClr val="243B53"/>
                </a:solidFill>
              </a:rPr>
              <a:t>Implement vector retrieval using all-MiniLM-L6-v2 and FAISS.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74336"/>
            <a:ext cx="5266944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5029200"/>
            <a:ext cx="5047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A43"/>
                </a:solidFill>
              </a:defRPr>
            </a:pPr>
            <a:r>
              <a:t>04. Hybrid Fusion Agent — </a:t>
            </a:r>
            <a:r>
              <a:rPr sz="1150" b="0">
                <a:solidFill>
                  <a:srgbClr val="243B53"/>
                </a:solidFill>
              </a:rPr>
              <a:t>Implement MinMax score normalization and weighted score fusion.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687568"/>
            <a:ext cx="5266944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5742432"/>
            <a:ext cx="5047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A43"/>
                </a:solidFill>
              </a:defRPr>
            </a:pPr>
            <a:r>
              <a:t>05. Query Trait Analyzer — </a:t>
            </a:r>
            <a:r>
              <a:rPr sz="1150" b="0">
                <a:solidFill>
                  <a:srgbClr val="243B53"/>
                </a:solidFill>
              </a:rPr>
              <a:t>Develop query-trait analysis for keyword, semantic, and numerical traits.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2834640"/>
            <a:ext cx="5266944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91072" y="2889504"/>
            <a:ext cx="5047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A43"/>
                </a:solidFill>
              </a:defRPr>
            </a:pPr>
            <a:r>
              <a:t>06. Evidence Judge Engine — </a:t>
            </a:r>
            <a:r>
              <a:rPr sz="1150" b="0">
                <a:solidFill>
                  <a:srgbClr val="243B53"/>
                </a:solidFill>
              </a:rPr>
              <a:t>Develop an Evidence Judge for consensus and redundancy evaluation.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3547872"/>
            <a:ext cx="5266944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91072" y="3602736"/>
            <a:ext cx="5047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A43"/>
                </a:solidFill>
              </a:defRPr>
            </a:pPr>
            <a:r>
              <a:t>07. Confidence Scorer — </a:t>
            </a:r>
            <a:r>
              <a:rPr sz="1150" b="0">
                <a:solidFill>
                  <a:srgbClr val="243B53"/>
                </a:solidFill>
              </a:rPr>
              <a:t>Develop multi-signal evidence-confidence scoring bound between 15%–98%.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4261104"/>
            <a:ext cx="5266944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91072" y="4315968"/>
            <a:ext cx="5047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A43"/>
                </a:solidFill>
              </a:defRPr>
            </a:pPr>
            <a:r>
              <a:t>08. Grounded QA Generator — </a:t>
            </a:r>
            <a:r>
              <a:rPr sz="1150" b="0">
                <a:solidFill>
                  <a:srgbClr val="243B53"/>
                </a:solidFill>
              </a:rPr>
              <a:t>Generate grounded extractive answers with explicit citations.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1344" y="4974336"/>
            <a:ext cx="5266944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91072" y="5029200"/>
            <a:ext cx="5047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A43"/>
                </a:solidFill>
              </a:defRPr>
            </a:pPr>
            <a:r>
              <a:t>09. Strategy Memory Store — </a:t>
            </a:r>
            <a:r>
              <a:rPr sz="1150" b="0">
                <a:solidFill>
                  <a:srgbClr val="243B53"/>
                </a:solidFill>
              </a:rPr>
              <a:t>Store historical retrieval experiences in a persistent JSON memory store.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5687568"/>
            <a:ext cx="5266944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91072" y="5742432"/>
            <a:ext cx="50474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A43"/>
                </a:solidFill>
              </a:defRPr>
            </a:pPr>
            <a:r>
              <a:t>10. Learning Strategy Selector — </a:t>
            </a:r>
            <a:r>
              <a:rPr sz="1150" b="0">
                <a:solidFill>
                  <a:srgbClr val="243B53"/>
                </a:solidFill>
              </a:rPr>
              <a:t>Develop and evaluate a learning-based strategy selector against baselines.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6446520"/>
            <a:ext cx="9326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27D98"/>
                </a:solidFill>
                <a:latin typeface="Arial"/>
              </a:defRPr>
            </a:pPr>
            <a:r>
              <a:t>Adaptive Confidence-Aware Multi-Agent Retrieval System | Vishal S | 22MIS1165 | VIT Chennai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4652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02A43"/>
                </a:solidFill>
                <a:latin typeface="Arial"/>
              </a:defRPr>
            </a:pPr>
            <a:r>
              <a:t>14 / 25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50C9858-F7C5-F354-3296-5B5C5215A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68AAD"/>
                </a:solidFill>
                <a:latin typeface="Arial"/>
              </a:defRPr>
            </a:pPr>
            <a:r>
              <a:t>REVIEW 2 RESEARCH PRESENTATION</a:t>
            </a:r>
          </a:p>
          <a:p>
            <a:pPr>
              <a:defRPr sz="2800" b="1">
                <a:solidFill>
                  <a:srgbClr val="102A43"/>
                </a:solidFill>
                <a:latin typeface="Georgia"/>
              </a:defRPr>
            </a:pPr>
            <a:r>
              <a:t>End-to-End System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9326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27D98"/>
                </a:solidFill>
                <a:latin typeface="Arial"/>
              </a:defRPr>
            </a:pPr>
            <a:r>
              <a:t>Adaptive Confidence-Aware Multi-Agent Retrieval System | Vishal S | 22MIS1165 | VIT Chennai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4652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02A43"/>
                </a:solidFill>
                <a:latin typeface="Arial"/>
              </a:defRPr>
            </a:pPr>
            <a:r>
              <a:t>15 /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66944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426464"/>
            <a:ext cx="504748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A43"/>
                </a:solidFill>
              </a:defRPr>
            </a:pPr>
            <a:r>
              <a:t>01. Document Ingestion — </a:t>
            </a:r>
            <a:r>
              <a:rPr sz="1100" b="0">
                <a:solidFill>
                  <a:srgbClr val="243B53"/>
                </a:solidFill>
              </a:rPr>
              <a:t>Upload PDF/TXT document and validate file formatting.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371600"/>
            <a:ext cx="5266944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91072" y="1426464"/>
            <a:ext cx="504748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A43"/>
                </a:solidFill>
              </a:defRPr>
            </a:pPr>
            <a:r>
              <a:t>02. Text Parsing — </a:t>
            </a:r>
            <a:r>
              <a:rPr sz="1100" b="0">
                <a:solidFill>
                  <a:srgbClr val="243B53"/>
                </a:solidFill>
              </a:rPr>
              <a:t>Extract and clean text via pypdf; strip broken line splits.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67712"/>
            <a:ext cx="5266944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322576"/>
            <a:ext cx="504748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A43"/>
                </a:solidFill>
              </a:defRPr>
            </a:pPr>
            <a:r>
              <a:t>03. Chunking — </a:t>
            </a:r>
            <a:r>
              <a:rPr sz="1100" b="0">
                <a:solidFill>
                  <a:srgbClr val="243B53"/>
                </a:solidFill>
              </a:rPr>
              <a:t>Create 500-char metadata chunks with sentence boundaries.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267712"/>
            <a:ext cx="5266944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91072" y="2322576"/>
            <a:ext cx="504748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A43"/>
                </a:solidFill>
              </a:defRPr>
            </a:pPr>
            <a:r>
              <a:t>04. Dual Indexing — </a:t>
            </a:r>
            <a:r>
              <a:rPr sz="1100" b="0">
                <a:solidFill>
                  <a:srgbClr val="243B53"/>
                </a:solidFill>
              </a:rPr>
              <a:t>Build in-memory rank_bm25 corpus &amp; FAISS L2 vector index.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63824"/>
            <a:ext cx="5266944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3218688"/>
            <a:ext cx="504748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A43"/>
                </a:solidFill>
              </a:defRPr>
            </a:pPr>
            <a:r>
              <a:t>05. Query Analysis — </a:t>
            </a:r>
            <a:r>
              <a:rPr sz="1100" b="0">
                <a:solidFill>
                  <a:srgbClr val="243B53"/>
                </a:solidFill>
              </a:rPr>
              <a:t>Identify query traits (keyword, semantic, numerical, entity).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3163824"/>
            <a:ext cx="5266944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91072" y="3218688"/>
            <a:ext cx="504748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A43"/>
                </a:solidFill>
              </a:defRPr>
            </a:pPr>
            <a:r>
              <a:t>06. Parallel Retrieval — </a:t>
            </a:r>
            <a:r>
              <a:rPr sz="1100" b="0">
                <a:solidFill>
                  <a:srgbClr val="243B53"/>
                </a:solidFill>
              </a:rPr>
              <a:t>Execute BM25, Semantic FAISS, and MinMax Hybrid search.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59935"/>
            <a:ext cx="5266944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" y="4114799"/>
            <a:ext cx="504748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A43"/>
                </a:solidFill>
              </a:defRPr>
            </a:pPr>
            <a:r>
              <a:t>07. Evidence Judging — </a:t>
            </a:r>
            <a:r>
              <a:rPr sz="1100" b="0">
                <a:solidFill>
                  <a:srgbClr val="243B53"/>
                </a:solidFill>
              </a:rPr>
              <a:t>Compare candidate evidence across retrieval agents for consensus.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4059935"/>
            <a:ext cx="5266944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91072" y="4114799"/>
            <a:ext cx="504748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A43"/>
                </a:solidFill>
              </a:defRPr>
            </a:pPr>
            <a:r>
              <a:t>08. Confidence Calculation — </a:t>
            </a:r>
            <a:r>
              <a:rPr sz="1100" b="0">
                <a:solidFill>
                  <a:srgbClr val="243B53"/>
                </a:solidFill>
              </a:rPr>
              <a:t>Calculate multi-signal confidence (strength, consensus, coverage).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956048"/>
            <a:ext cx="5266944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" y="5010912"/>
            <a:ext cx="504748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A43"/>
                </a:solidFill>
              </a:defRPr>
            </a:pPr>
            <a:r>
              <a:t>09. Grounded Response — </a:t>
            </a:r>
            <a:r>
              <a:rPr sz="1100" b="0">
                <a:solidFill>
                  <a:srgbClr val="243B53"/>
                </a:solidFill>
              </a:rPr>
              <a:t>Synthesize extractive answer with page and chunk citations.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1344" y="4956048"/>
            <a:ext cx="5266944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91072" y="5010912"/>
            <a:ext cx="504748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2A43"/>
                </a:solidFill>
              </a:defRPr>
            </a:pPr>
            <a:r>
              <a:t>10. Strategy Memory — </a:t>
            </a:r>
            <a:r>
              <a:rPr sz="1100" b="0">
                <a:solidFill>
                  <a:srgbClr val="243B53"/>
                </a:solidFill>
              </a:rPr>
              <a:t>Record query, strategy, confidence, and latency for future learning.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760720"/>
            <a:ext cx="10728655" cy="5486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580644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2A43"/>
                </a:solidFill>
              </a:defRPr>
            </a:pPr>
            <a:r>
              <a:t>CURRENT V1 METHODOLOGY STATUS: Stages 01–10 are fully functional locally. Strategy Memory currently acts as a logging mechanism, preparing data for future V2 predictive learning.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68AAD"/>
                </a:solidFill>
                <a:latin typeface="Arial"/>
              </a:defRPr>
            </a:pPr>
            <a:r>
              <a:t>REVIEW 2 RESEARCH PRESENTATION</a:t>
            </a:r>
          </a:p>
          <a:p>
            <a:pPr>
              <a:defRPr sz="2800" b="1">
                <a:solidFill>
                  <a:srgbClr val="102A43"/>
                </a:solidFill>
                <a:latin typeface="Georgia"/>
              </a:defRPr>
            </a:pPr>
            <a:r>
              <a:t>Current V1 Implementation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9326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27D98"/>
                </a:solidFill>
                <a:latin typeface="Arial"/>
              </a:defRPr>
            </a:pPr>
            <a:r>
              <a:t>Adaptive Confidence-Aware Multi-Agent Retrieval System | Vishal S | 22MIS1165 | VIT Chennai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4652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02A43"/>
                </a:solidFill>
                <a:latin typeface="Arial"/>
              </a:defRPr>
            </a:pPr>
            <a:r>
              <a:t>16 / 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82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699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System Component / Module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Implementation Status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 &amp; Implementation Details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PDF &amp; TXT Ingestion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8AAD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pypdf parser with clean_text formatting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Sliding Text Chunking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8AAD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500-char chunks, 100 overlap, min 30 chars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Query Trait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8AAD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Rule-based trait analysis (keyword, semantic, numerical)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BM25 Lexical Retrieval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8AAD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rank_bm25 BM25Okapi implementation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Semantic Vector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8AAD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SentenceTransformer all-MiniLM-L6-v2 + FAISS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FAISS Vector Indexing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8AAD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faiss-cpu IndexFlatIP with L2 normalization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MinMax Hybrid 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8AAD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MinMax score normalization + weighted 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Evidence Judge Engine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8AAD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Consensus + keyword coverage + redundancy filter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Confidence Scoring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8AAD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Multi-signal empirical metric bound to 15%–98%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Grounded Generation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8AAD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Extractive sentence matching + page citations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Strategy Memory 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8AAD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JSON historical experience logger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Streamlit Web Interface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8AAD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Interactive UI running live at http://localhost:8501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Automated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8AAD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5/5 passed unit tests (pytest tests/test_system.py)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Pipeline Verification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8AAD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3B53"/>
                          </a:solidFill>
                        </a:defRPr>
                      </a:pPr>
                      <a:r>
                        <a:t>8/8 passed verification scenarios (verify_pipeline.py)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68AAD"/>
                </a:solidFill>
                <a:latin typeface="Arial"/>
              </a:defRPr>
            </a:pPr>
            <a:r>
              <a:t>REVIEW 2 RESEARCH PRESENTATION</a:t>
            </a:r>
          </a:p>
          <a:p>
            <a:pPr>
              <a:defRPr sz="2800" b="1">
                <a:solidFill>
                  <a:srgbClr val="102A43"/>
                </a:solidFill>
                <a:latin typeface="Georgia"/>
              </a:defRPr>
            </a:pPr>
            <a:r>
              <a:t>Backend Architecture and Local 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9326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27D98"/>
                </a:solidFill>
                <a:latin typeface="Arial"/>
              </a:defRPr>
            </a:pPr>
            <a:r>
              <a:t>Adaptive Confidence-Aware Multi-Agent Retrieval System | Vishal S | 22MIS1165 | VIT Chennai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4652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02A43"/>
                </a:solidFill>
                <a:latin typeface="Arial"/>
              </a:defRPr>
            </a:pPr>
            <a:r>
              <a:t>17 /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2A43"/>
                </a:solidFill>
              </a:defRPr>
            </a:pPr>
            <a:r>
              <a:t>100% LOCAL &amp; OPEN-SOURCE STACK</a:t>
            </a:r>
          </a:p>
          <a:p>
            <a:pPr>
              <a:spcAft>
                <a:spcPts val="600"/>
              </a:spcAft>
              <a:defRPr sz="1200">
                <a:solidFill>
                  <a:srgbClr val="243B53"/>
                </a:solidFill>
              </a:defRPr>
            </a:pPr>
            <a:r>
              <a:t>• Streamlit — Web application UI running locally at http://localhost:8501.</a:t>
            </a:r>
          </a:p>
          <a:p>
            <a:pPr>
              <a:spcAft>
                <a:spcPts val="600"/>
              </a:spcAft>
              <a:defRPr sz="1200">
                <a:solidFill>
                  <a:srgbClr val="243B53"/>
                </a:solidFill>
              </a:defRPr>
            </a:pPr>
            <a:r>
              <a:t>• SentenceTransformers — all-MiniLM-L6-v2 local model (384-dimensional dense vectors).</a:t>
            </a:r>
          </a:p>
          <a:p>
            <a:pPr>
              <a:spcAft>
                <a:spcPts val="600"/>
              </a:spcAft>
              <a:defRPr sz="1200">
                <a:solidFill>
                  <a:srgbClr val="243B53"/>
                </a:solidFill>
              </a:defRPr>
            </a:pPr>
            <a:r>
              <a:t>• FAISS CPU — IndexFlatIP in-memory vector index with L2 normalization.</a:t>
            </a:r>
          </a:p>
          <a:p>
            <a:pPr>
              <a:spcAft>
                <a:spcPts val="600"/>
              </a:spcAft>
              <a:defRPr sz="1200">
                <a:solidFill>
                  <a:srgbClr val="243B53"/>
                </a:solidFill>
              </a:defRPr>
            </a:pPr>
            <a:r>
              <a:t>• rank_bm25 — In-memory BM25Okapi lexical retrieval implementation.</a:t>
            </a:r>
          </a:p>
          <a:p>
            <a:pPr>
              <a:spcAft>
                <a:spcPts val="600"/>
              </a:spcAft>
              <a:defRPr sz="1200">
                <a:solidFill>
                  <a:srgbClr val="243B53"/>
                </a:solidFill>
              </a:defRPr>
            </a:pPr>
            <a:r>
              <a:t>• pypdf &amp; reportlab — PDF text extraction and synthetic sample document generation.</a:t>
            </a:r>
          </a:p>
          <a:p>
            <a:pPr>
              <a:spcAft>
                <a:spcPts val="600"/>
              </a:spcAft>
              <a:defRPr sz="1200">
                <a:solidFill>
                  <a:srgbClr val="243B53"/>
                </a:solidFill>
              </a:defRPr>
            </a:pPr>
            <a:r>
              <a:t>• PyTorch &amp; NumPy — Local tensor computations without cloud API expenses.</a:t>
            </a:r>
          </a:p>
          <a:p>
            <a:pPr>
              <a:spcAft>
                <a:spcPts val="600"/>
              </a:spcAft>
              <a:defRPr sz="1200">
                <a:solidFill>
                  <a:srgbClr val="243B53"/>
                </a:solidFill>
              </a:defRPr>
            </a:pPr>
            <a:r>
              <a:t>• Pytest Framework — Automated system unit test suite execution.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22415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68AAD"/>
                </a:solidFill>
              </a:defRPr>
            </a:pPr>
            <a:r>
              <a:t>IMPORTANT SYSTEM GUARANTEES</a:t>
            </a:r>
          </a:p>
          <a:p>
            <a:pPr>
              <a:spcAft>
                <a:spcPts val="200"/>
              </a:spcAft>
              <a:defRPr sz="1300" b="1">
                <a:solidFill>
                  <a:srgbClr val="102A43"/>
                </a:solidFill>
              </a:defRPr>
            </a:pPr>
            <a:r>
              <a:t>ZERO PAID CLOUD API COSTS</a:t>
            </a:r>
          </a:p>
          <a:p>
            <a:pPr>
              <a:spcAft>
                <a:spcPts val="800"/>
              </a:spcAft>
              <a:defRPr sz="1200">
                <a:solidFill>
                  <a:srgbClr val="243B53"/>
                </a:solidFill>
              </a:defRPr>
            </a:pPr>
            <a:r>
              <a:t>Operates 100% locally without paid OpenAI or Gemini API keys.</a:t>
            </a:r>
          </a:p>
          <a:p>
            <a:pPr>
              <a:spcAft>
                <a:spcPts val="200"/>
              </a:spcAft>
              <a:defRPr sz="1300" b="1">
                <a:solidFill>
                  <a:srgbClr val="102A43"/>
                </a:solidFill>
              </a:defRPr>
            </a:pPr>
            <a:r>
              <a:t>LOCAL EMBEDDING INFERENCE</a:t>
            </a:r>
          </a:p>
          <a:p>
            <a:pPr>
              <a:spcAft>
                <a:spcPts val="800"/>
              </a:spcAft>
              <a:defRPr sz="1200">
                <a:solidFill>
                  <a:srgbClr val="243B53"/>
                </a:solidFill>
              </a:defRPr>
            </a:pPr>
            <a:r>
              <a:t>sentence-transformers/all-MiniLM-L6-v2 runs locally via PyTorch CPU.</a:t>
            </a:r>
          </a:p>
          <a:p>
            <a:pPr>
              <a:spcAft>
                <a:spcPts val="200"/>
              </a:spcAft>
              <a:defRPr sz="1300" b="1">
                <a:solidFill>
                  <a:srgbClr val="102A43"/>
                </a:solidFill>
              </a:defRPr>
            </a:pPr>
            <a:r>
              <a:t>EXTRACTIVE CITATION GROUNDING</a:t>
            </a:r>
          </a:p>
          <a:p>
            <a:pPr>
              <a:spcAft>
                <a:spcPts val="800"/>
              </a:spcAft>
              <a:defRPr sz="1200">
                <a:solidFill>
                  <a:srgbClr val="243B53"/>
                </a:solidFill>
              </a:defRPr>
            </a:pPr>
            <a:r>
              <a:t>Answers are generated by sentence matching directly from judged evidence chunks.</a:t>
            </a:r>
          </a:p>
          <a:p>
            <a:pPr>
              <a:spcAft>
                <a:spcPts val="200"/>
              </a:spcAft>
              <a:defRPr sz="1300" b="1">
                <a:solidFill>
                  <a:srgbClr val="102A43"/>
                </a:solidFill>
              </a:defRPr>
            </a:pPr>
            <a:r>
              <a:t>STRATEGY MEMORY STATUS</a:t>
            </a:r>
          </a:p>
          <a:p>
            <a:pPr>
              <a:spcAft>
                <a:spcPts val="800"/>
              </a:spcAft>
              <a:defRPr sz="1200">
                <a:solidFill>
                  <a:srgbClr val="243B53"/>
                </a:solidFill>
              </a:defRPr>
            </a:pPr>
            <a:r>
              <a:t>V1 Strategy Memory currently stores experience. Learning-based strategy selection is future work.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68AAD"/>
                </a:solidFill>
                <a:latin typeface="Arial"/>
              </a:defRPr>
            </a:pPr>
            <a:r>
              <a:t>REVIEW 2 RESEARCH PRESENTATION</a:t>
            </a:r>
          </a:p>
          <a:p>
            <a:pPr>
              <a:defRPr sz="2800" b="1">
                <a:solidFill>
                  <a:srgbClr val="102A43"/>
                </a:solidFill>
                <a:latin typeface="Georgia"/>
              </a:defRPr>
            </a:pPr>
            <a:r>
              <a:t>How the Prototype Works (11-Step Flow)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9326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27D98"/>
                </a:solidFill>
                <a:latin typeface="Arial"/>
              </a:defRPr>
            </a:pPr>
            <a:r>
              <a:t>Adaptive Confidence-Aware Multi-Agent Retrieval System | Vishal S | 22MIS1165 | VIT Chennai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4652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02A43"/>
                </a:solidFill>
                <a:latin typeface="Arial"/>
              </a:defRPr>
            </a:pPr>
            <a:r>
              <a:t>18 /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6694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426464"/>
            <a:ext cx="504748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2A43"/>
                </a:solidFill>
              </a:defRPr>
            </a:pPr>
            <a:r>
              <a:t>Step 1: User uploads a PDF/TXT document.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76272"/>
            <a:ext cx="526694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2231136"/>
            <a:ext cx="504748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2A43"/>
                </a:solidFill>
              </a:defRPr>
            </a:pPr>
            <a:r>
              <a:t>Step 2: Backend extracts and cleans document 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80944"/>
            <a:ext cx="526694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3035808"/>
            <a:ext cx="504748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2A43"/>
                </a:solidFill>
              </a:defRPr>
            </a:pPr>
            <a:r>
              <a:t>Step 3: Text is divided into 500-char searchable chunks.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85616"/>
            <a:ext cx="526694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3840480"/>
            <a:ext cx="504748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2A43"/>
                </a:solidFill>
              </a:defRPr>
            </a:pPr>
            <a:r>
              <a:t>Step 4: Two retrieval indexes are created: BM25 and FAISS.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90288"/>
            <a:ext cx="526694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4645152"/>
            <a:ext cx="504748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2A43"/>
                </a:solidFill>
              </a:defRPr>
            </a:pPr>
            <a:r>
              <a:t>Step 5: User submits a research question.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94960"/>
            <a:ext cx="526694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5449824"/>
            <a:ext cx="504748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2A43"/>
                </a:solidFill>
              </a:defRPr>
            </a:pPr>
            <a:r>
              <a:t>Step 6: Query Analyzer identifies query characteristics.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371600"/>
            <a:ext cx="526694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91072" y="1426464"/>
            <a:ext cx="504748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2A43"/>
                </a:solidFill>
              </a:defRPr>
            </a:pPr>
            <a:r>
              <a:t>Step 7: Three retrieval agents generate candidate evidence.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2176272"/>
            <a:ext cx="526694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91072" y="2231136"/>
            <a:ext cx="504748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2A43"/>
                </a:solidFill>
              </a:defRPr>
            </a:pPr>
            <a:r>
              <a:t>Step 8: Evidence Judge compares candidate evidence.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2980944"/>
            <a:ext cx="526694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91072" y="3035808"/>
            <a:ext cx="504748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2A43"/>
                </a:solidFill>
              </a:defRPr>
            </a:pPr>
            <a:r>
              <a:t>Step 9: Confidence Scorer produces evidence-confidence signal.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1344" y="3785616"/>
            <a:ext cx="526694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91072" y="3840480"/>
            <a:ext cx="504748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2A43"/>
                </a:solidFill>
              </a:defRPr>
            </a:pPr>
            <a:r>
              <a:t>Step 10: System produces grounded answer with page citations.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4590288"/>
            <a:ext cx="526694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91072" y="4645152"/>
            <a:ext cx="504748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2A43"/>
                </a:solidFill>
              </a:defRPr>
            </a:pPr>
            <a:r>
              <a:t>Step 11: Query experience is recorded for future learning.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58791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68AAD"/>
                </a:solidFill>
                <a:latin typeface="Arial"/>
              </a:defRPr>
            </a:pPr>
            <a:r>
              <a:rPr dirty="0"/>
              <a:t>REVIEW 2 RESEARCH PRESENTATION</a:t>
            </a:r>
          </a:p>
          <a:p>
            <a:pPr>
              <a:defRPr sz="2800" b="1">
                <a:solidFill>
                  <a:srgbClr val="102A43"/>
                </a:solidFill>
                <a:latin typeface="Georgia"/>
              </a:defRPr>
            </a:pPr>
            <a:r>
              <a:rPr dirty="0"/>
              <a:t>Proposed Novel Contribution — Feedback-Driven Strategy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9326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27D98"/>
                </a:solidFill>
                <a:latin typeface="Arial"/>
              </a:defRPr>
            </a:pPr>
            <a:r>
              <a:t>Adaptive Confidence-Aware Multi-Agent Retrieval System | Vishal S | 22MIS1165 | VIT Chennai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4652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02A43"/>
                </a:solidFill>
                <a:latin typeface="Arial"/>
              </a:defRPr>
            </a:pPr>
            <a:r>
              <a:t>19 /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2A43"/>
                </a:solidFill>
              </a:defRPr>
            </a:pPr>
            <a:r>
              <a:t>HONEST NOVELTY BOUNDARIES</a:t>
            </a:r>
          </a:p>
          <a:p>
            <a:pPr>
              <a:spcAft>
                <a:spcPts val="400"/>
              </a:spcAft>
              <a:defRPr sz="1200" b="1">
                <a:solidFill>
                  <a:srgbClr val="627D98"/>
                </a:solidFill>
              </a:defRPr>
            </a:pPr>
            <a:r>
              <a:t>NOT NOVEL INDIVIDUALLY:</a:t>
            </a:r>
          </a:p>
          <a:p>
            <a:pPr>
              <a:spcAft>
                <a:spcPts val="200"/>
              </a:spcAft>
              <a:defRPr sz="1200">
                <a:solidFill>
                  <a:srgbClr val="243B53"/>
                </a:solidFill>
              </a:defRPr>
            </a:pPr>
            <a:r>
              <a:t>• BM25 lexical retrieval (Robertson 2009)</a:t>
            </a:r>
          </a:p>
          <a:p>
            <a:pPr>
              <a:spcAft>
                <a:spcPts val="200"/>
              </a:spcAft>
              <a:defRPr sz="1200">
                <a:solidFill>
                  <a:srgbClr val="243B53"/>
                </a:solidFill>
              </a:defRPr>
            </a:pPr>
            <a:r>
              <a:t>• Semantic vector retrieval (Karpukhin 2020)</a:t>
            </a:r>
          </a:p>
          <a:p>
            <a:pPr>
              <a:spcAft>
                <a:spcPts val="200"/>
              </a:spcAft>
              <a:defRPr sz="1200">
                <a:solidFill>
                  <a:srgbClr val="243B53"/>
                </a:solidFill>
              </a:defRPr>
            </a:pPr>
            <a:r>
              <a:t>• Hybrid retrieval score fusion (Sawarkar 2024)</a:t>
            </a:r>
          </a:p>
          <a:p>
            <a:pPr>
              <a:spcAft>
                <a:spcPts val="200"/>
              </a:spcAft>
              <a:defRPr sz="1200">
                <a:solidFill>
                  <a:srgbClr val="243B53"/>
                </a:solidFill>
              </a:defRPr>
            </a:pPr>
            <a:r>
              <a:t>• Standard RAG framework (Lewis 2020)</a:t>
            </a:r>
          </a:p>
          <a:p>
            <a:pPr>
              <a:spcAft>
                <a:spcPts val="200"/>
              </a:spcAft>
              <a:defRPr sz="1200">
                <a:solidFill>
                  <a:srgbClr val="243B53"/>
                </a:solidFill>
              </a:defRPr>
            </a:pPr>
            <a:r>
              <a:t>• Evidence evaluation (Yan 2024)</a:t>
            </a:r>
          </a:p>
          <a:p>
            <a:pPr>
              <a:spcAft>
                <a:spcPts val="200"/>
              </a:spcAft>
              <a:defRPr sz="1200">
                <a:solidFill>
                  <a:srgbClr val="243B53"/>
                </a:solidFill>
              </a:defRPr>
            </a:pPr>
            <a:r>
              <a:t>• Multi-agent retrieval (Salemi 2025)</a:t>
            </a:r>
          </a:p>
          <a:p>
            <a:br/>
            <a:r>
              <a:t>PROPOSED RESEARCH CONTRIBUTION: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A feedback-driven retrieval strategy learning framework that records query characteristics, retrieval strategy, evidence-confidence signals, and retrieval outcomes, and uses this historical experience to improve future selection among lexical, semantic, and hybrid retrieval strategies.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22415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4A261"/>
                </a:solidFill>
              </a:defRPr>
            </a:pPr>
            <a:r>
              <a:t>PROPOSED FEEDBACK LEARNING LOOP</a:t>
            </a:r>
          </a:p>
          <a:p>
            <a:pPr>
              <a:defRPr sz="1300" b="1">
                <a:solidFill>
                  <a:srgbClr val="102A43"/>
                </a:solidFill>
              </a:defRPr>
            </a:pPr>
            <a:r>
              <a:t>──► User Query Input</a:t>
            </a:r>
          </a:p>
          <a:p>
            <a:pPr>
              <a:spcAft>
                <a:spcPts val="400"/>
              </a:spcAft>
              <a:defRPr sz="1200">
                <a:solidFill>
                  <a:srgbClr val="243B53"/>
                </a:solidFill>
              </a:defRPr>
            </a:pPr>
            <a:r>
              <a:t>      Extract query trait vector</a:t>
            </a:r>
          </a:p>
          <a:p>
            <a:pPr>
              <a:defRPr sz="1300" b="1">
                <a:solidFill>
                  <a:srgbClr val="102A43"/>
                </a:solidFill>
              </a:defRPr>
            </a:pPr>
            <a:r>
              <a:t>──► Strategy Selection</a:t>
            </a:r>
          </a:p>
          <a:p>
            <a:pPr>
              <a:spcAft>
                <a:spcPts val="400"/>
              </a:spcAft>
              <a:defRPr sz="1200">
                <a:solidFill>
                  <a:srgbClr val="243B53"/>
                </a:solidFill>
              </a:defRPr>
            </a:pPr>
            <a:r>
              <a:t>      Predict strategy via memory classifier</a:t>
            </a:r>
          </a:p>
          <a:p>
            <a:pPr>
              <a:defRPr sz="1300" b="1">
                <a:solidFill>
                  <a:srgbClr val="102A43"/>
                </a:solidFill>
              </a:defRPr>
            </a:pPr>
            <a:r>
              <a:t>──► Agent Retrieval</a:t>
            </a:r>
          </a:p>
          <a:p>
            <a:pPr>
              <a:spcAft>
                <a:spcPts val="400"/>
              </a:spcAft>
              <a:defRPr sz="1200">
                <a:solidFill>
                  <a:srgbClr val="243B53"/>
                </a:solidFill>
              </a:defRPr>
            </a:pPr>
            <a:r>
              <a:t>      Execute BM25 / Semantic / Hybrid agent</a:t>
            </a:r>
          </a:p>
          <a:p>
            <a:pPr>
              <a:defRPr sz="1300" b="1">
                <a:solidFill>
                  <a:srgbClr val="102A43"/>
                </a:solidFill>
              </a:defRPr>
            </a:pPr>
            <a:r>
              <a:t>──► Evidence Judge</a:t>
            </a:r>
          </a:p>
          <a:p>
            <a:pPr>
              <a:spcAft>
                <a:spcPts val="400"/>
              </a:spcAft>
              <a:defRPr sz="1200">
                <a:solidFill>
                  <a:srgbClr val="243B53"/>
                </a:solidFill>
              </a:defRPr>
            </a:pPr>
            <a:r>
              <a:t>      Evaluate candidate pool &amp; consensus</a:t>
            </a:r>
          </a:p>
          <a:p>
            <a:pPr>
              <a:defRPr sz="1300" b="1">
                <a:solidFill>
                  <a:srgbClr val="102A43"/>
                </a:solidFill>
              </a:defRPr>
            </a:pPr>
            <a:r>
              <a:t>──► Confidence Scorer</a:t>
            </a:r>
          </a:p>
          <a:p>
            <a:pPr>
              <a:spcAft>
                <a:spcPts val="400"/>
              </a:spcAft>
              <a:defRPr sz="1200">
                <a:solidFill>
                  <a:srgbClr val="243B53"/>
                </a:solidFill>
              </a:defRPr>
            </a:pPr>
            <a:r>
              <a:t>      Calculate multi-factor confidence signal</a:t>
            </a:r>
          </a:p>
          <a:p>
            <a:pPr>
              <a:defRPr sz="1300" b="1">
                <a:solidFill>
                  <a:srgbClr val="102A43"/>
                </a:solidFill>
              </a:defRPr>
            </a:pPr>
            <a:r>
              <a:t>──► Strategy Memory Store</a:t>
            </a:r>
          </a:p>
          <a:p>
            <a:pPr>
              <a:spcAft>
                <a:spcPts val="400"/>
              </a:spcAft>
              <a:defRPr sz="1200">
                <a:solidFill>
                  <a:srgbClr val="243B53"/>
                </a:solidFill>
              </a:defRPr>
            </a:pPr>
            <a:r>
              <a:t>      Record query, strategy, confidence &amp; outcome</a:t>
            </a:r>
          </a:p>
          <a:p>
            <a:pPr>
              <a:defRPr sz="1300" b="1">
                <a:solidFill>
                  <a:srgbClr val="102A43"/>
                </a:solidFill>
              </a:defRPr>
            </a:pPr>
            <a:r>
              <a:t>──► Continual Learning (↺)</a:t>
            </a:r>
          </a:p>
          <a:p>
            <a:pPr>
              <a:spcAft>
                <a:spcPts val="400"/>
              </a:spcAft>
              <a:defRPr sz="1200">
                <a:solidFill>
                  <a:srgbClr val="243B53"/>
                </a:solidFill>
              </a:defRPr>
            </a:pPr>
            <a:r>
              <a:t>      Update predictive model on new memory entries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68AAD"/>
                </a:solidFill>
                <a:latin typeface="Arial"/>
              </a:defRPr>
            </a:pPr>
            <a:r>
              <a:t>REVIEW 2 RESEARCH PRESENTATION</a:t>
            </a:r>
          </a:p>
          <a:p>
            <a:pPr>
              <a:defRPr sz="2800" b="1">
                <a:solidFill>
                  <a:srgbClr val="102A43"/>
                </a:solidFill>
                <a:latin typeface="Georgia"/>
              </a:defRPr>
            </a:pPr>
            <a:r>
              <a:t>Preliminary Verification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9326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27D98"/>
                </a:solidFill>
                <a:latin typeface="Arial"/>
              </a:defRPr>
            </a:pPr>
            <a:r>
              <a:t>Adaptive Confidence-Aware Multi-Agent Retrieval System | Vishal S | 22MIS1165 | VIT Chennai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4652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02A43"/>
                </a:solidFill>
                <a:latin typeface="Arial"/>
              </a:defRPr>
            </a:pPr>
            <a:r>
              <a:t>20 /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68AAD"/>
                </a:solidFill>
              </a:defRPr>
            </a:pPr>
            <a:r>
              <a:t>CURRENT V1 VERIFICATION STATUS</a:t>
            </a:r>
          </a:p>
          <a:p>
            <a:pPr>
              <a:defRPr sz="1300" b="1">
                <a:solidFill>
                  <a:srgbClr val="102A43"/>
                </a:solidFill>
              </a:defRPr>
            </a:pPr>
            <a:r>
              <a:t>5/5 Unit Tests Passed</a:t>
            </a:r>
          </a:p>
          <a:p>
            <a:pPr>
              <a:spcAft>
                <a:spcPts val="400"/>
              </a:spcAft>
              <a:defRPr sz="1200">
                <a:solidFill>
                  <a:srgbClr val="243B53"/>
                </a:solidFill>
              </a:defRPr>
            </a:pPr>
            <a:r>
              <a:t>Verified document parsing, chunking, query analyzer, retrievers, judge, confidence, &amp; memory (pytest).</a:t>
            </a:r>
          </a:p>
          <a:p>
            <a:pPr>
              <a:defRPr sz="1300" b="1">
                <a:solidFill>
                  <a:srgbClr val="102A43"/>
                </a:solidFill>
              </a:defRPr>
            </a:pPr>
            <a:r>
              <a:t>8/8 Verification Scenarios Passed</a:t>
            </a:r>
          </a:p>
          <a:p>
            <a:pPr>
              <a:spcAft>
                <a:spcPts val="400"/>
              </a:spcAft>
              <a:defRPr sz="1200">
                <a:solidFill>
                  <a:srgbClr val="243B53"/>
                </a:solidFill>
              </a:defRPr>
            </a:pPr>
            <a:r>
              <a:t>Executed across factual, keyword, semantic, numerical, entity, comparison, &amp; multi-part queries.</a:t>
            </a:r>
          </a:p>
          <a:p>
            <a:pPr>
              <a:defRPr sz="1300" b="1">
                <a:solidFill>
                  <a:srgbClr val="102A43"/>
                </a:solidFill>
              </a:defRPr>
            </a:pPr>
            <a:r>
              <a:t>Multi-Agent Output Execution</a:t>
            </a:r>
          </a:p>
          <a:p>
            <a:pPr>
              <a:spcAft>
                <a:spcPts val="400"/>
              </a:spcAft>
              <a:defRPr sz="1200">
                <a:solidFill>
                  <a:srgbClr val="243B53"/>
                </a:solidFill>
              </a:defRPr>
            </a:pPr>
            <a:r>
              <a:t>BM25 excels on exact version codes ('AES-256') while Semantic FAISS excels on conceptual questions.</a:t>
            </a:r>
          </a:p>
          <a:p>
            <a:pPr>
              <a:defRPr sz="1300" b="1">
                <a:solidFill>
                  <a:srgbClr val="102A43"/>
                </a:solidFill>
              </a:defRPr>
            </a:pPr>
            <a:r>
              <a:t>Evidence Judge Screening</a:t>
            </a:r>
          </a:p>
          <a:p>
            <a:pPr>
              <a:spcAft>
                <a:spcPts val="400"/>
              </a:spcAft>
              <a:defRPr sz="1200">
                <a:solidFill>
                  <a:srgbClr val="243B53"/>
                </a:solidFill>
              </a:defRPr>
            </a:pPr>
            <a:r>
              <a:t>Screened candidate chunks and rejected redundant duplicate snippets.</a:t>
            </a:r>
          </a:p>
          <a:p>
            <a:pPr>
              <a:defRPr sz="1300" b="1">
                <a:solidFill>
                  <a:srgbClr val="102A43"/>
                </a:solidFill>
              </a:defRPr>
            </a:pPr>
            <a:r>
              <a:t>Confidence Signal Generation</a:t>
            </a:r>
          </a:p>
          <a:p>
            <a:pPr>
              <a:spcAft>
                <a:spcPts val="400"/>
              </a:spcAft>
              <a:defRPr sz="1200">
                <a:solidFill>
                  <a:srgbClr val="243B53"/>
                </a:solidFill>
              </a:defRPr>
            </a:pPr>
            <a:r>
              <a:t>Generated multi-factor confidence scores bound between 15% and 98%.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22415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2A43"/>
                </a:solidFill>
              </a:defRPr>
            </a:pPr>
            <a:r>
              <a:t>OBSERVED BEHAVIOR &amp; SCIENTIFIC NOTICE</a:t>
            </a:r>
          </a:p>
          <a:p>
            <a:pPr>
              <a:defRPr sz="1300" b="1">
                <a:solidFill>
                  <a:srgbClr val="F4A261"/>
                </a:solidFill>
              </a:defRPr>
            </a:pPr>
            <a:r>
              <a:t>OBSERVED BEHAVIOR</a:t>
            </a:r>
          </a:p>
          <a:p>
            <a:pPr>
              <a:spcAft>
                <a:spcPts val="800"/>
              </a:spcAft>
              <a:defRPr sz="1200">
                <a:solidFill>
                  <a:srgbClr val="243B53"/>
                </a:solidFill>
              </a:defRPr>
            </a:pPr>
            <a:r>
              <a:t>Exact technical queries can favor lexical retrieval; conceptual queries can favor semantic retrieval; comparison queries benefit from hybrid retrieval.</a:t>
            </a:r>
          </a:p>
          <a:p>
            <a:pPr>
              <a:defRPr sz="1300" b="1">
                <a:solidFill>
                  <a:srgbClr val="F4A261"/>
                </a:solidFill>
              </a:defRPr>
            </a:pPr>
            <a:r>
              <a:t>PRELIMINARY VERIFICATION NOTICE</a:t>
            </a:r>
          </a:p>
          <a:p>
            <a:pPr>
              <a:spcAft>
                <a:spcPts val="800"/>
              </a:spcAft>
              <a:defRPr sz="1200">
                <a:solidFill>
                  <a:srgbClr val="243B53"/>
                </a:solidFill>
              </a:defRPr>
            </a:pPr>
            <a:r>
              <a:t>These figures represent software system verification results confirming zero code crashes. They are NOT final benchmark accuracy numbers.</a:t>
            </a:r>
          </a:p>
          <a:p>
            <a:pPr>
              <a:defRPr sz="1300" b="1">
                <a:solidFill>
                  <a:srgbClr val="F4A261"/>
                </a:solidFill>
              </a:defRPr>
            </a:pPr>
            <a:r>
              <a:t>NO STATISTICAL SUPERIORITY CLAIM</a:t>
            </a:r>
          </a:p>
          <a:p>
            <a:pPr>
              <a:spcAft>
                <a:spcPts val="800"/>
              </a:spcAft>
              <a:defRPr sz="1200">
                <a:solidFill>
                  <a:srgbClr val="243B53"/>
                </a:solidFill>
              </a:defRPr>
            </a:pPr>
            <a:r>
              <a:t>We do NOT claim statistically significant superiority until systematic benchmark experiments against public datasets are completed.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68AAD"/>
                </a:solidFill>
                <a:latin typeface="Arial"/>
              </a:defRPr>
            </a:pPr>
            <a:r>
              <a:t>REVIEW 2 RESEARCH PRESENTATION</a:t>
            </a:r>
          </a:p>
          <a:p>
            <a:pPr>
              <a:defRPr sz="2800" b="1">
                <a:solidFill>
                  <a:srgbClr val="102A43"/>
                </a:solidFill>
                <a:latin typeface="Georgia"/>
              </a:defRPr>
            </a:pPr>
            <a:r>
              <a:t>Comparison with Existing Retrieval Approaches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9326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27D98"/>
                </a:solidFill>
                <a:latin typeface="Arial"/>
              </a:defRPr>
            </a:pPr>
            <a:r>
              <a:t>Adaptive Confidence-Aware Multi-Agent Retrieval System | Vishal S | 22MIS1165 | VIT Chennai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4652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02A43"/>
                </a:solidFill>
                <a:latin typeface="Arial"/>
              </a:defRPr>
            </a:pPr>
            <a:r>
              <a:t>21 / 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792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Fixed Retrieval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Multiple Strategies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Query Routing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Evidence Judge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Confidence Signal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Memory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Feedback Learning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Fixed RAG (Lewis 2020)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B5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B5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B5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68AAD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68AAD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4A26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4A26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Adaptive-RAG (Jeong 2024)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B5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B53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B53"/>
                          </a:solidFill>
                        </a:defRPr>
                      </a:pPr>
                      <a:r>
                        <a:t>Yes (Complexity)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68AAD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68AAD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4A26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4A26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RouterRetriever (Lee 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B5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B5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B53"/>
                          </a:solidFill>
                        </a:defRPr>
                      </a:pPr>
                      <a:r>
                        <a:t>Yes (Domain)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68AAD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68AAD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4A26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4A26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Retriever Portfolio (2026)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B5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B5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B53"/>
                          </a:solidFill>
                        </a:defRPr>
                      </a:pPr>
                      <a:r>
                        <a:t>Yes (Portfolio)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68AAD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68AAD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4A26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4A26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Current V1 Prototype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B5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B5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B53"/>
                          </a:solidFill>
                        </a:defRPr>
                      </a:pPr>
                      <a:r>
                        <a:t>Yes (Traits)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68AAD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68AAD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4A261"/>
                          </a:solidFill>
                        </a:defRPr>
                      </a:pPr>
                      <a:r>
                        <a:t>Yes (Stub)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4A261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927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02A43"/>
                          </a:solidFill>
                        </a:defRPr>
                      </a:pPr>
                      <a:r>
                        <a:t>Proposed V2 Research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B5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B5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B53"/>
                          </a:solidFill>
                        </a:defRPr>
                      </a:pPr>
                      <a:r>
                        <a:t>Yes (Feedback)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68AAD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68AAD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4A261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4A261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68AAD"/>
                </a:solidFill>
                <a:latin typeface="Arial"/>
              </a:defRPr>
            </a:pPr>
            <a:r>
              <a:t>REVIEW 2 RESEARCH PRESENTATION</a:t>
            </a:r>
          </a:p>
          <a:p>
            <a:pPr>
              <a:defRPr sz="2800" b="1">
                <a:solidFill>
                  <a:srgbClr val="102A43"/>
                </a:solidFill>
                <a:latin typeface="Georgia"/>
              </a:defRPr>
            </a:pPr>
            <a:r>
              <a:t>Experimental Evaluation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9326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27D98"/>
                </a:solidFill>
                <a:latin typeface="Arial"/>
              </a:defRPr>
            </a:pPr>
            <a:r>
              <a:t>Adaptive Confidence-Aware Multi-Agent Retrieval System | Vishal S | 22MIS1165 | VIT Chennai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4652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02A43"/>
                </a:solidFill>
                <a:latin typeface="Arial"/>
              </a:defRPr>
            </a:pPr>
            <a:r>
              <a:t>22 /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5146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508760"/>
            <a:ext cx="229514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68AAD"/>
                </a:solidFill>
              </a:defRPr>
            </a:pPr>
            <a:r>
              <a:t>RETRIEVAL METRICS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• Precision@K</a:t>
            </a:r>
            <a:br/>
            <a:r>
              <a:t>  (Fraction of top-k chunks relevant)</a:t>
            </a:r>
            <a:br/>
            <a:r>
              <a:t>• Recall@K</a:t>
            </a:r>
            <a:br/>
            <a:r>
              <a:t>  (Fraction of relevant chunks found)</a:t>
            </a:r>
            <a:br/>
            <a:r>
              <a:t>• MRR (Mean Reciprocal Rank)</a:t>
            </a:r>
            <a:br/>
            <a:r>
              <a:t>• nDCG@K</a:t>
            </a:r>
            <a:br/>
            <a:r>
              <a:t>  (Discounted Cumulative Gain)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371600"/>
            <a:ext cx="25146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508760"/>
            <a:ext cx="229514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68AAD"/>
                </a:solidFill>
              </a:defRPr>
            </a:pPr>
            <a:r>
              <a:t>ANSWER METRICS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• Answer Correctness</a:t>
            </a:r>
            <a:br/>
            <a:r>
              <a:t>  (Factual accuracy against ground truth)</a:t>
            </a:r>
            <a:br/>
            <a:r>
              <a:t>• Faithfulness</a:t>
            </a:r>
            <a:br/>
            <a:r>
              <a:t>  (Groundedness in context)</a:t>
            </a:r>
            <a:br/>
            <a:r>
              <a:t>• Context Relevance</a:t>
            </a:r>
            <a:br/>
            <a:r>
              <a:t>  (Signal-to-noise ratio)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371600"/>
            <a:ext cx="25146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91072" y="1508760"/>
            <a:ext cx="229514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2A43"/>
                </a:solidFill>
              </a:defRPr>
            </a:pPr>
            <a:r>
              <a:t>EFFICIENCY METRICS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• Retrieval Latency (ms)</a:t>
            </a:r>
            <a:br/>
            <a:r>
              <a:t>  (Per-agent &amp; total search time)</a:t>
            </a:r>
            <a:br/>
            <a:r>
              <a:t>• Compute Overhead</a:t>
            </a:r>
            <a:br/>
            <a:r>
              <a:t>  (CPU/GPU memory utilization)</a:t>
            </a:r>
            <a:br/>
            <a:r>
              <a:t>• Token Usage</a:t>
            </a:r>
            <a:br/>
            <a:r>
              <a:t>  (Context window savings)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371600"/>
            <a:ext cx="25146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15984" y="1508760"/>
            <a:ext cx="229514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4A261"/>
                </a:solidFill>
              </a:defRPr>
            </a:pPr>
            <a:r>
              <a:t>LEARNING METRICS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• Strategy Selection Accuracy</a:t>
            </a:r>
            <a:br/>
            <a:r>
              <a:t>  (Accuracy of predicted strategy)</a:t>
            </a:r>
            <a:br/>
            <a:r>
              <a:t>• Batch Progress Gain</a:t>
            </a:r>
            <a:br/>
            <a:r>
              <a:t>  (Accuracy gain over 100-query batches)</a:t>
            </a:r>
            <a:br/>
            <a:r>
              <a:t>• Confidence Correlation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1072865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10362895" cy="713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02A43"/>
                </a:solidFill>
              </a:defRPr>
            </a:pPr>
            <a:r>
              <a:rPr dirty="0"/>
              <a:t>5 BASELINES &amp; PUBLIC BENCHMARK DATASETS</a:t>
            </a:r>
          </a:p>
          <a:p>
            <a:pPr>
              <a:defRPr sz="1200" b="1">
                <a:solidFill>
                  <a:srgbClr val="168AAD"/>
                </a:solidFill>
              </a:defRPr>
            </a:pPr>
            <a:r>
              <a:rPr dirty="0"/>
              <a:t>Baselines: 1. BM25-Only RAG  │  2. Semantic-Only RAG  │  3. Fixed Hybrid RAG (0.5/0.5)  │  4. V1 Multi-Agent RAG  │  5. V2 Proposed Feedback RAG</a:t>
            </a:r>
            <a:br>
              <a:rPr dirty="0"/>
            </a:br>
            <a:r>
              <a:rPr dirty="0"/>
              <a:t>Public Benchmark Datasets: </a:t>
            </a:r>
            <a:r>
              <a:rPr dirty="0" err="1"/>
              <a:t>HotpotQA</a:t>
            </a:r>
            <a:r>
              <a:rPr dirty="0"/>
              <a:t> (Multi-hop Reasoning), MS MARCO (Passage Retrieval), </a:t>
            </a:r>
            <a:r>
              <a:rPr dirty="0" err="1"/>
              <a:t>SQuAD</a:t>
            </a:r>
            <a:r>
              <a:rPr dirty="0"/>
              <a:t> 2.0 (Unanswerable Questions)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68AAD"/>
                </a:solidFill>
                <a:latin typeface="Arial"/>
              </a:defRPr>
            </a:pPr>
            <a:r>
              <a:t>REVIEW 2 RESEARCH PRESENTATION</a:t>
            </a:r>
          </a:p>
          <a:p>
            <a:pPr>
              <a:defRPr sz="2800" b="1">
                <a:solidFill>
                  <a:srgbClr val="102A43"/>
                </a:solidFill>
                <a:latin typeface="Georgia"/>
              </a:defRPr>
            </a:pPr>
            <a:r>
              <a:t>Expected Research Contribution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9326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27D98"/>
                </a:solidFill>
                <a:latin typeface="Arial"/>
              </a:defRPr>
            </a:pPr>
            <a:r>
              <a:t>Adaptive Confidence-Aware Multi-Agent Retrieval System | Vishal S | 22MIS1165 | VIT Chennai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4652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02A43"/>
                </a:solidFill>
                <a:latin typeface="Arial"/>
              </a:defRPr>
            </a:pPr>
            <a:r>
              <a:t>23 /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66944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463040"/>
            <a:ext cx="504748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68AAD"/>
                </a:solidFill>
              </a:defRPr>
            </a:pPr>
            <a:r>
              <a:t>1. Adaptive Strategy Selection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Move beyond one fixed retrieval method to dynamic routing across lexical, semantic, and hybrid agents.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371600"/>
            <a:ext cx="5266944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91072" y="1463040"/>
            <a:ext cx="504748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68AAD"/>
                </a:solidFill>
              </a:defRPr>
            </a:pPr>
            <a:r>
              <a:t>2. Evidence-Aware Decision Making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Use cross-agent evidence consensus and keyword coverage signals before final answer generation.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5266944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A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788920"/>
            <a:ext cx="504748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68AAD"/>
                </a:solidFill>
              </a:defRPr>
            </a:pPr>
            <a:r>
              <a:t>3. Confidence-Aware Retrieval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Provide calibrated evidence-confidence metrics (15%–98%) as an interpretable trust signal.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697480"/>
            <a:ext cx="5266944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91072" y="2788920"/>
            <a:ext cx="504748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4A261"/>
                </a:solidFill>
              </a:defRPr>
            </a:pPr>
            <a:r>
              <a:t>4. Feedback-Driven Learning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Establish a historical deployment feedback loop where past strategy outcomes improve future query routing.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5266944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4114800"/>
            <a:ext cx="504748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02A43"/>
                </a:solidFill>
              </a:defRPr>
            </a:pPr>
            <a:r>
              <a:t>5. Efficient Retrieval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Investigate whether adaptive routing can reduce unnecessary retrieval latency and prompt context noise.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4023360"/>
            <a:ext cx="5266944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91072" y="4114800"/>
            <a:ext cx="504748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02A43"/>
                </a:solidFill>
              </a:defRPr>
            </a:pPr>
            <a:r>
              <a:t>6. Interpretable Decision Trace</a:t>
            </a:r>
          </a:p>
          <a:p>
            <a:pPr>
              <a:defRPr sz="1200">
                <a:solidFill>
                  <a:srgbClr val="243B53"/>
                </a:solidFill>
              </a:defRPr>
            </a:pPr>
            <a:r>
              <a:t>Record why a strategy was selected and what evidence supported it for auditability.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68AAD"/>
                </a:solidFill>
                <a:latin typeface="Arial"/>
              </a:defRPr>
            </a:pPr>
            <a:r>
              <a:t>REVIEW 2 RESEARCH PRESENTATION</a:t>
            </a:r>
          </a:p>
          <a:p>
            <a:pPr>
              <a:defRPr sz="2800" b="1">
                <a:solidFill>
                  <a:srgbClr val="102A43"/>
                </a:solidFill>
                <a:latin typeface="Georgia"/>
              </a:defRPr>
            </a:pPr>
            <a:r>
              <a:t>Conclusion, Limitations and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9326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27D98"/>
                </a:solidFill>
                <a:latin typeface="Arial"/>
              </a:defRPr>
            </a:pPr>
            <a:r>
              <a:t>Adaptive Confidence-Aware Multi-Agent Retrieval System | Vishal S | 22MIS1165 | VIT Chennai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4652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02A43"/>
                </a:solidFill>
                <a:latin typeface="Arial"/>
              </a:defRPr>
            </a:pPr>
            <a:r>
              <a:t>24 /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05409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68AAD"/>
                </a:solidFill>
              </a:defRPr>
            </a:pPr>
            <a:r>
              <a:t>CONCLUSION SUMMARY</a:t>
            </a:r>
          </a:p>
          <a:p>
            <a:pPr>
              <a:defRPr sz="1300">
                <a:solidFill>
                  <a:srgbClr val="243B53"/>
                </a:solidFill>
              </a:defRPr>
            </a:pPr>
            <a:r>
              <a:t>• Developed a functional Adaptive Multi-Agent RAG V1 prototype.</a:t>
            </a:r>
            <a:br/>
            <a:br/>
            <a:r>
              <a:t>• Integrated BM25, Semantic FAISS, Hybrid Fusion, Evidence Judge, &amp; Confidence Scorer.</a:t>
            </a:r>
            <a:br/>
            <a:br/>
            <a:r>
              <a:t>• Verified system logic across 5/5 unit tests &amp; 8/8 verification scenarios.</a:t>
            </a:r>
            <a:br/>
            <a:br/>
            <a:r>
              <a:t>• Established baseline for research extension.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37160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62856" y="1554480"/>
            <a:ext cx="305409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4A261"/>
                </a:solidFill>
              </a:defRPr>
            </a:pPr>
            <a:r>
              <a:t>CURRENT LIMITATIONS</a:t>
            </a:r>
          </a:p>
          <a:p>
            <a:pPr>
              <a:defRPr sz="1300">
                <a:solidFill>
                  <a:srgbClr val="243B53"/>
                </a:solidFill>
              </a:defRPr>
            </a:pPr>
            <a:r>
              <a:t>• Strategy Memory is currently a logging mechanism.</a:t>
            </a:r>
            <a:br/>
            <a:br/>
            <a:r>
              <a:t>• Learning-based strategy selection is not yet implemented.</a:t>
            </a:r>
            <a:br/>
            <a:br/>
            <a:r>
              <a:t>• Current results are preliminary.</a:t>
            </a:r>
            <a:br/>
            <a:br/>
            <a:r>
              <a:t>• Public benchmark evaluation is required.</a:t>
            </a:r>
            <a:br/>
            <a:br/>
            <a:r>
              <a:t>• Confidence calibration requires ground-truth comparison.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37160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57031" y="1554480"/>
            <a:ext cx="305409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2A43"/>
                </a:solidFill>
              </a:defRPr>
            </a:pPr>
            <a:r>
              <a:t>FUTURE RESEARCH ROADMAP</a:t>
            </a:r>
          </a:p>
          <a:p>
            <a:pPr>
              <a:defRPr sz="1300">
                <a:solidFill>
                  <a:srgbClr val="243B53"/>
                </a:solidFill>
              </a:defRPr>
            </a:pPr>
            <a:r>
              <a:t>1. Build Strategy-Learning Dataset</a:t>
            </a:r>
            <a:br/>
            <a:br/>
            <a:r>
              <a:t>2. Train Strategy Classifier</a:t>
            </a:r>
            <a:br/>
            <a:br/>
            <a:r>
              <a:t>3. Perform Sequential Experiments</a:t>
            </a:r>
            <a:br/>
            <a:br/>
            <a:r>
              <a:t>4. Evaluate on Public Benchmarks</a:t>
            </a:r>
            <a:br/>
            <a:br/>
            <a:r>
              <a:t>5. Perform Significance Testing</a:t>
            </a:r>
            <a:br/>
            <a:br/>
            <a:r>
              <a:t>6. Prepare Research Publication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68AAD"/>
                </a:solidFill>
                <a:latin typeface="Arial"/>
              </a:defRPr>
            </a:pPr>
            <a:r>
              <a:t>REFERENCES &amp; BIBLIOGRAPHY</a:t>
            </a:r>
          </a:p>
          <a:p>
            <a:pPr>
              <a:defRPr sz="2800" b="1">
                <a:solidFill>
                  <a:srgbClr val="102A43"/>
                </a:solidFill>
                <a:latin typeface="Georgia"/>
              </a:defRPr>
            </a:pPr>
            <a:r>
              <a:t>Verified Academic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9326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627D98"/>
                </a:solidFill>
                <a:latin typeface="Arial"/>
              </a:defRPr>
            </a:pPr>
            <a:r>
              <a:t>Adaptive Confidence-Aware Multi-Agent Retrieval System | Vishal S | 22MIS1165 | VIT Chennai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46520"/>
            <a:ext cx="1097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102A43"/>
                </a:solidFill>
                <a:latin typeface="Arial"/>
              </a:defRPr>
            </a:pPr>
            <a:r>
              <a:t>25 /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3265" y="22860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1" dirty="0">
                <a:solidFill>
                  <a:srgbClr val="168AAD"/>
                </a:solidFill>
                <a:hlinkClick r:id="rId2"/>
              </a:rPr>
              <a:t>1. The Probabilistic Relevance Framework: BM25 and Beyond</a:t>
            </a:r>
            <a:r>
              <a:rPr sz="1000" i="1" dirty="0">
                <a:solidFill>
                  <a:srgbClr val="243B53"/>
                </a:solidFill>
              </a:rPr>
              <a:t> — Robertson &amp; Zaragoza, 2009 (Foundations &amp; Trends in IR)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168AAD"/>
                </a:solidFill>
                <a:hlinkClick r:id="rId3"/>
              </a:rPr>
              <a:t>2. </a:t>
            </a:r>
            <a:r>
              <a:rPr sz="1050" b="1" dirty="0" err="1">
                <a:solidFill>
                  <a:srgbClr val="168AAD"/>
                </a:solidFill>
                <a:hlinkClick r:id="rId3"/>
              </a:rPr>
              <a:t>HotpotQA</a:t>
            </a:r>
            <a:r>
              <a:rPr sz="1050" b="1" dirty="0">
                <a:solidFill>
                  <a:srgbClr val="168AAD"/>
                </a:solidFill>
                <a:hlinkClick r:id="rId3"/>
              </a:rPr>
              <a:t>: Dataset for Diverse Multi-hop QA</a:t>
            </a:r>
            <a:r>
              <a:rPr sz="1000" i="1" dirty="0">
                <a:solidFill>
                  <a:srgbClr val="243B53"/>
                </a:solidFill>
              </a:rPr>
              <a:t> — Yang et al., 2018 (EMNLP)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168AAD"/>
                </a:solidFill>
                <a:hlinkClick r:id="rId4"/>
              </a:rPr>
              <a:t>3. Retrieval-Augmented Generation for Knowledge Tasks</a:t>
            </a:r>
            <a:r>
              <a:rPr sz="1000" i="1" dirty="0">
                <a:solidFill>
                  <a:srgbClr val="243B53"/>
                </a:solidFill>
              </a:rPr>
              <a:t> — Lewis et al., 2020 (</a:t>
            </a:r>
            <a:r>
              <a:rPr sz="1000" i="1" dirty="0" err="1">
                <a:solidFill>
                  <a:srgbClr val="243B53"/>
                </a:solidFill>
              </a:rPr>
              <a:t>NeurIPS</a:t>
            </a:r>
            <a:r>
              <a:rPr sz="1000" i="1" dirty="0">
                <a:solidFill>
                  <a:srgbClr val="243B53"/>
                </a:solidFill>
              </a:rPr>
              <a:t>)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168AAD"/>
                </a:solidFill>
                <a:hlinkClick r:id="rId5"/>
              </a:rPr>
              <a:t>4. Dense Passage Retrieval for Open-Domain QA</a:t>
            </a:r>
            <a:r>
              <a:rPr sz="1000" i="1" dirty="0">
                <a:solidFill>
                  <a:srgbClr val="243B53"/>
                </a:solidFill>
              </a:rPr>
              <a:t> — </a:t>
            </a:r>
            <a:r>
              <a:rPr sz="1000" i="1" dirty="0" err="1">
                <a:solidFill>
                  <a:srgbClr val="243B53"/>
                </a:solidFill>
              </a:rPr>
              <a:t>Karpukhin</a:t>
            </a:r>
            <a:r>
              <a:rPr sz="1000" i="1" dirty="0">
                <a:solidFill>
                  <a:srgbClr val="243B53"/>
                </a:solidFill>
              </a:rPr>
              <a:t> et al., 2020 (EMNLP)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168AAD"/>
                </a:solidFill>
                <a:hlinkClick r:id="rId6"/>
              </a:rPr>
              <a:t>5. ColBERTv2: Late Interaction Neural Retrieval</a:t>
            </a:r>
            <a:r>
              <a:rPr sz="1000" i="1" dirty="0">
                <a:solidFill>
                  <a:srgbClr val="243B53"/>
                </a:solidFill>
              </a:rPr>
              <a:t> — Santhanam et al., 2022 (NAACL)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168AAD"/>
                </a:solidFill>
                <a:hlinkClick r:id="rId7"/>
              </a:rPr>
              <a:t>6. When Not to Trust Language Models</a:t>
            </a:r>
            <a:r>
              <a:rPr sz="1000" i="1" dirty="0">
                <a:solidFill>
                  <a:srgbClr val="243B53"/>
                </a:solidFill>
              </a:rPr>
              <a:t> — Mallen et al., 2023 (ACL)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168AAD"/>
                </a:solidFill>
                <a:hlinkClick r:id="rId8"/>
              </a:rPr>
              <a:t>7. Interleaving Retrieval with Chain-of-Thought Reasoning</a:t>
            </a:r>
            <a:r>
              <a:rPr sz="1000" i="1" dirty="0">
                <a:solidFill>
                  <a:srgbClr val="243B53"/>
                </a:solidFill>
              </a:rPr>
              <a:t> — Trivedi et al., 2023 (ACL)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168AAD"/>
                </a:solidFill>
                <a:hlinkClick r:id="rId9"/>
              </a:rPr>
              <a:t>8. Precise Zero-Shot Dense Retrieval (</a:t>
            </a:r>
            <a:r>
              <a:rPr sz="1050" b="1" dirty="0" err="1">
                <a:solidFill>
                  <a:srgbClr val="168AAD"/>
                </a:solidFill>
                <a:hlinkClick r:id="rId9"/>
              </a:rPr>
              <a:t>HyDE</a:t>
            </a:r>
            <a:r>
              <a:rPr sz="1050" b="1" dirty="0">
                <a:solidFill>
                  <a:srgbClr val="168AAD"/>
                </a:solidFill>
                <a:hlinkClick r:id="rId9"/>
              </a:rPr>
              <a:t>)</a:t>
            </a:r>
            <a:r>
              <a:rPr sz="1000" i="1" dirty="0">
                <a:solidFill>
                  <a:srgbClr val="243B53"/>
                </a:solidFill>
              </a:rPr>
              <a:t> — Gao et al., 2023 (ACL)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168AAD"/>
                </a:solidFill>
                <a:hlinkClick r:id="rId10"/>
              </a:rPr>
              <a:t>9. Self-RAG: Learning to Retrieve, Generate &amp; Critique</a:t>
            </a:r>
            <a:r>
              <a:rPr sz="1000" i="1" dirty="0">
                <a:solidFill>
                  <a:srgbClr val="243B53"/>
                </a:solidFill>
              </a:rPr>
              <a:t> — Asai et al., 2024 (ICLR)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168AAD"/>
                </a:solidFill>
                <a:hlinkClick r:id="rId11"/>
              </a:rPr>
              <a:t>10. Adaptive-RAG: Learning to Adapt RAG</a:t>
            </a:r>
            <a:r>
              <a:rPr sz="1000" i="1" dirty="0">
                <a:solidFill>
                  <a:srgbClr val="243B53"/>
                </a:solidFill>
              </a:rPr>
              <a:t> — Jeong et al., 2024 (NAACL)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168AAD"/>
                </a:solidFill>
                <a:hlinkClick r:id="rId12"/>
              </a:rPr>
              <a:t>11. Corrective Retrieval Augmented Generation</a:t>
            </a:r>
            <a:r>
              <a:rPr sz="1000" i="1" dirty="0">
                <a:solidFill>
                  <a:srgbClr val="243B53"/>
                </a:solidFill>
              </a:rPr>
              <a:t> — Yan et al., 2024 (</a:t>
            </a:r>
            <a:r>
              <a:rPr sz="1000" i="1" dirty="0" err="1">
                <a:solidFill>
                  <a:srgbClr val="243B53"/>
                </a:solidFill>
              </a:rPr>
              <a:t>arXiv</a:t>
            </a:r>
            <a:r>
              <a:rPr sz="1000" i="1" dirty="0">
                <a:solidFill>
                  <a:srgbClr val="243B53"/>
                </a:solidFill>
              </a:rPr>
              <a:t>)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168AAD"/>
                </a:solidFill>
                <a:hlinkClick r:id="rId13"/>
              </a:rPr>
              <a:t>12. Blended RAG: Improving RAG Accuracy</a:t>
            </a:r>
            <a:r>
              <a:rPr sz="1000" i="1" dirty="0">
                <a:solidFill>
                  <a:srgbClr val="243B53"/>
                </a:solidFill>
              </a:rPr>
              <a:t> — Sawarkar et al., 2024 (</a:t>
            </a:r>
            <a:r>
              <a:rPr sz="1000" i="1" dirty="0" err="1">
                <a:solidFill>
                  <a:srgbClr val="243B53"/>
                </a:solidFill>
              </a:rPr>
              <a:t>arXiv</a:t>
            </a:r>
            <a:r>
              <a:rPr sz="1000" i="1" dirty="0">
                <a:solidFill>
                  <a:srgbClr val="243B53"/>
                </a:solidFill>
              </a:rPr>
              <a:t>)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168AAD"/>
                </a:solidFill>
                <a:hlinkClick r:id="rId14"/>
              </a:rPr>
              <a:t>13. RAGAS: Automated RAG Evaluation</a:t>
            </a:r>
            <a:r>
              <a:rPr sz="1000" i="1" dirty="0">
                <a:solidFill>
                  <a:srgbClr val="243B53"/>
                </a:solidFill>
              </a:rPr>
              <a:t> — Es et al., 2024 (EACL)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30975" y="22860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1" dirty="0">
                <a:solidFill>
                  <a:srgbClr val="168AAD"/>
                </a:solidFill>
                <a:hlinkClick r:id="rId15"/>
              </a:rPr>
              <a:t>14. ARES Evaluation Framework for RAG</a:t>
            </a:r>
            <a:r>
              <a:rPr sz="1000" i="1" dirty="0">
                <a:solidFill>
                  <a:srgbClr val="243B53"/>
                </a:solidFill>
              </a:rPr>
              <a:t> — Saad-Falcon et al., 2024 (NAACL)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168AAD"/>
                </a:solidFill>
                <a:hlinkClick r:id="rId16"/>
              </a:rPr>
              <a:t>15. Lost in the Middle: How LMs Use Contexts</a:t>
            </a:r>
            <a:r>
              <a:rPr sz="1000" i="1" dirty="0">
                <a:solidFill>
                  <a:srgbClr val="243B53"/>
                </a:solidFill>
              </a:rPr>
              <a:t> — Liu et al., 2024 (TACL)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168AAD"/>
                </a:solidFill>
                <a:hlinkClick r:id="rId17"/>
              </a:rPr>
              <a:t>16. RAFT: Adapting LM to Domain Specific RAG</a:t>
            </a:r>
            <a:r>
              <a:rPr sz="1000" i="1" dirty="0">
                <a:solidFill>
                  <a:srgbClr val="243B53"/>
                </a:solidFill>
              </a:rPr>
              <a:t> — Zhang et al., 2024 (</a:t>
            </a:r>
            <a:r>
              <a:rPr sz="1000" i="1" dirty="0" err="1">
                <a:solidFill>
                  <a:srgbClr val="243B53"/>
                </a:solidFill>
              </a:rPr>
              <a:t>arXiv</a:t>
            </a:r>
            <a:r>
              <a:rPr sz="1000" i="1" dirty="0">
                <a:solidFill>
                  <a:srgbClr val="243B53"/>
                </a:solidFill>
              </a:rPr>
              <a:t>)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168AAD"/>
                </a:solidFill>
                <a:hlinkClick r:id="rId18"/>
              </a:rPr>
              <a:t>17. BGE-M3-Embedding: Multi-Function Embeddings</a:t>
            </a:r>
            <a:r>
              <a:rPr sz="1000" i="1" dirty="0">
                <a:solidFill>
                  <a:srgbClr val="243B53"/>
                </a:solidFill>
              </a:rPr>
              <a:t> — Chen et al., 2024 (</a:t>
            </a:r>
            <a:r>
              <a:rPr sz="1000" i="1" dirty="0" err="1">
                <a:solidFill>
                  <a:srgbClr val="243B53"/>
                </a:solidFill>
              </a:rPr>
              <a:t>arXiv</a:t>
            </a:r>
            <a:r>
              <a:rPr sz="1000" i="1" dirty="0">
                <a:solidFill>
                  <a:srgbClr val="243B53"/>
                </a:solidFill>
              </a:rPr>
              <a:t>)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168AAD"/>
                </a:solidFill>
                <a:hlinkClick r:id="rId19"/>
              </a:rPr>
              <a:t>18. </a:t>
            </a:r>
            <a:r>
              <a:rPr sz="1050" b="1" dirty="0" err="1">
                <a:solidFill>
                  <a:srgbClr val="168AAD"/>
                </a:solidFill>
                <a:hlinkClick r:id="rId19"/>
              </a:rPr>
              <a:t>RouterRetriever</a:t>
            </a:r>
            <a:r>
              <a:rPr sz="1050" b="1" dirty="0">
                <a:solidFill>
                  <a:srgbClr val="168AAD"/>
                </a:solidFill>
                <a:hlinkClick r:id="rId19"/>
              </a:rPr>
              <a:t>: Routing Expert Models</a:t>
            </a:r>
            <a:r>
              <a:rPr sz="1000" i="1" dirty="0">
                <a:solidFill>
                  <a:srgbClr val="243B53"/>
                </a:solidFill>
              </a:rPr>
              <a:t> — Lee et al., 2025 (</a:t>
            </a:r>
            <a:r>
              <a:rPr sz="1000" i="1" dirty="0" err="1">
                <a:solidFill>
                  <a:srgbClr val="243B53"/>
                </a:solidFill>
              </a:rPr>
              <a:t>arXiv</a:t>
            </a:r>
            <a:r>
              <a:rPr sz="1000" i="1" dirty="0">
                <a:solidFill>
                  <a:srgbClr val="243B53"/>
                </a:solidFill>
              </a:rPr>
              <a:t>)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168AAD"/>
                </a:solidFill>
                <a:hlinkClick r:id="rId20"/>
              </a:rPr>
              <a:t>19. </a:t>
            </a:r>
            <a:r>
              <a:rPr sz="1050" b="1" dirty="0" err="1">
                <a:solidFill>
                  <a:srgbClr val="168AAD"/>
                </a:solidFill>
                <a:hlinkClick r:id="rId20"/>
              </a:rPr>
              <a:t>CIIR@LiveRAG</a:t>
            </a:r>
            <a:r>
              <a:rPr sz="1050" b="1" dirty="0">
                <a:solidFill>
                  <a:srgbClr val="168AAD"/>
                </a:solidFill>
                <a:hlinkClick r:id="rId20"/>
              </a:rPr>
              <a:t>: Multi-Agent RAG Self-Training</a:t>
            </a:r>
            <a:r>
              <a:rPr sz="1000" i="1" dirty="0">
                <a:solidFill>
                  <a:srgbClr val="243B53"/>
                </a:solidFill>
              </a:rPr>
              <a:t> — Salemi et al., 2025 (</a:t>
            </a:r>
            <a:r>
              <a:rPr sz="1000" i="1" dirty="0" err="1">
                <a:solidFill>
                  <a:srgbClr val="243B53"/>
                </a:solidFill>
              </a:rPr>
              <a:t>arXiv</a:t>
            </a:r>
            <a:r>
              <a:rPr sz="1000" i="1" dirty="0">
                <a:solidFill>
                  <a:srgbClr val="243B53"/>
                </a:solidFill>
              </a:rPr>
              <a:t>)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168AAD"/>
                </a:solidFill>
                <a:hlinkClick r:id="rId21"/>
              </a:rPr>
              <a:t>20. </a:t>
            </a:r>
            <a:r>
              <a:rPr sz="1050" b="1" dirty="0" err="1">
                <a:solidFill>
                  <a:srgbClr val="168AAD"/>
                </a:solidFill>
                <a:hlinkClick r:id="rId21"/>
              </a:rPr>
              <a:t>MoR</a:t>
            </a:r>
            <a:r>
              <a:rPr sz="1050" b="1" dirty="0">
                <a:solidFill>
                  <a:srgbClr val="168AAD"/>
                </a:solidFill>
                <a:hlinkClick r:id="rId21"/>
              </a:rPr>
              <a:t>: Handling Diverse Queries with Retrievers</a:t>
            </a:r>
            <a:r>
              <a:rPr sz="1000" i="1" dirty="0">
                <a:solidFill>
                  <a:srgbClr val="243B53"/>
                </a:solidFill>
              </a:rPr>
              <a:t> — Kalra et al., 2025 (</a:t>
            </a:r>
            <a:r>
              <a:rPr sz="1000" i="1" dirty="0" err="1">
                <a:solidFill>
                  <a:srgbClr val="243B53"/>
                </a:solidFill>
              </a:rPr>
              <a:t>arXiv</a:t>
            </a:r>
            <a:r>
              <a:rPr sz="1000" i="1" dirty="0">
                <a:solidFill>
                  <a:srgbClr val="243B53"/>
                </a:solidFill>
              </a:rPr>
              <a:t>)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168AAD"/>
                </a:solidFill>
                <a:hlinkClick r:id="rId22"/>
              </a:rPr>
              <a:t>21. Agentic Retrieval-Augmented Generation Survey</a:t>
            </a:r>
            <a:r>
              <a:rPr sz="1000" i="1" dirty="0">
                <a:solidFill>
                  <a:srgbClr val="243B53"/>
                </a:solidFill>
              </a:rPr>
              <a:t> — Singh et al., 2025 (</a:t>
            </a:r>
            <a:r>
              <a:rPr sz="1000" i="1" dirty="0" err="1">
                <a:solidFill>
                  <a:srgbClr val="243B53"/>
                </a:solidFill>
              </a:rPr>
              <a:t>arXiv</a:t>
            </a:r>
            <a:r>
              <a:rPr sz="1000" i="1" dirty="0">
                <a:solidFill>
                  <a:srgbClr val="243B53"/>
                </a:solidFill>
              </a:rPr>
              <a:t>)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168AAD"/>
                </a:solidFill>
                <a:hlinkClick r:id="rId23"/>
              </a:rPr>
              <a:t>22. Efficient Context Selection: Adaptive-k</a:t>
            </a:r>
            <a:r>
              <a:rPr sz="1000" i="1" dirty="0">
                <a:solidFill>
                  <a:srgbClr val="243B53"/>
                </a:solidFill>
              </a:rPr>
              <a:t> — Taguchi et al., 2025 (EMNLP)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168AAD"/>
                </a:solidFill>
                <a:hlinkClick r:id="rId24"/>
              </a:rPr>
              <a:t>23. Lightweight Query Routing for Adaptive RAG</a:t>
            </a:r>
            <a:r>
              <a:rPr sz="1000" i="1" dirty="0">
                <a:solidFill>
                  <a:srgbClr val="243B53"/>
                </a:solidFill>
              </a:rPr>
              <a:t> — Bansal &amp; Agarwal, 2026 (</a:t>
            </a:r>
            <a:r>
              <a:rPr sz="1000" i="1" dirty="0" err="1">
                <a:solidFill>
                  <a:srgbClr val="243B53"/>
                </a:solidFill>
              </a:rPr>
              <a:t>arXiv</a:t>
            </a:r>
            <a:r>
              <a:rPr sz="1000" i="1" dirty="0">
                <a:solidFill>
                  <a:srgbClr val="243B53"/>
                </a:solidFill>
              </a:rPr>
              <a:t>)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168AAD"/>
                </a:solidFill>
                <a:hlinkClick r:id="rId25"/>
              </a:rPr>
              <a:t>24. Retriever Portfolios: Adaptive RAG</a:t>
            </a:r>
            <a:r>
              <a:rPr sz="1000" i="1" dirty="0">
                <a:solidFill>
                  <a:srgbClr val="243B53"/>
                </a:solidFill>
              </a:rPr>
              <a:t> — </a:t>
            </a:r>
            <a:r>
              <a:rPr sz="1000" i="1" dirty="0" err="1">
                <a:solidFill>
                  <a:srgbClr val="243B53"/>
                </a:solidFill>
              </a:rPr>
              <a:t>Stouras</a:t>
            </a:r>
            <a:r>
              <a:rPr sz="1000" i="1" dirty="0">
                <a:solidFill>
                  <a:srgbClr val="243B53"/>
                </a:solidFill>
              </a:rPr>
              <a:t> et al., 2026 (</a:t>
            </a:r>
            <a:r>
              <a:rPr sz="1000" i="1" dirty="0" err="1">
                <a:solidFill>
                  <a:srgbClr val="243B53"/>
                </a:solidFill>
              </a:rPr>
              <a:t>arXiv</a:t>
            </a:r>
            <a:r>
              <a:rPr sz="1000" i="1" dirty="0">
                <a:solidFill>
                  <a:srgbClr val="243B53"/>
                </a:solidFill>
              </a:rPr>
              <a:t>)</a:t>
            </a:r>
          </a:p>
          <a:p>
            <a:pPr>
              <a:spcAft>
                <a:spcPts val="200"/>
              </a:spcAft>
            </a:pPr>
            <a:r>
              <a:rPr sz="1050" b="1" dirty="0">
                <a:solidFill>
                  <a:srgbClr val="168AAD"/>
                </a:solidFill>
                <a:hlinkClick r:id="rId26"/>
              </a:rPr>
              <a:t>25. Facet-Level Tracing of Evidence Uncertainty</a:t>
            </a:r>
            <a:r>
              <a:rPr sz="1000" i="1" dirty="0">
                <a:solidFill>
                  <a:srgbClr val="243B53"/>
                </a:solidFill>
              </a:rPr>
              <a:t> — </a:t>
            </a:r>
            <a:r>
              <a:rPr sz="1000" i="1" dirty="0" err="1">
                <a:solidFill>
                  <a:srgbClr val="243B53"/>
                </a:solidFill>
              </a:rPr>
              <a:t>Elchafei</a:t>
            </a:r>
            <a:r>
              <a:rPr sz="1000" i="1" dirty="0">
                <a:solidFill>
                  <a:srgbClr val="243B53"/>
                </a:solidFill>
              </a:rPr>
              <a:t> et al., 2026 (</a:t>
            </a:r>
            <a:r>
              <a:rPr sz="1000" i="1" dirty="0" err="1">
                <a:solidFill>
                  <a:srgbClr val="243B53"/>
                </a:solidFill>
              </a:rPr>
              <a:t>arXiv</a:t>
            </a:r>
            <a:r>
              <a:rPr sz="1000" i="1" dirty="0">
                <a:solidFill>
                  <a:srgbClr val="243B53"/>
                </a:solidFill>
              </a:rPr>
              <a:t>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4853</Words>
  <Application>Microsoft Office PowerPoint</Application>
  <PresentationFormat>Widescreen</PresentationFormat>
  <Paragraphs>610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Vishal</dc:creator>
  <cp:keywords/>
  <dc:description>generated using python-pptx</dc:description>
  <cp:lastModifiedBy>Vishal S</cp:lastModifiedBy>
  <cp:revision>5</cp:revision>
  <dcterms:created xsi:type="dcterms:W3CDTF">2013-01-27T09:14:16Z</dcterms:created>
  <dcterms:modified xsi:type="dcterms:W3CDTF">2026-09-01T14:16:46Z</dcterms:modified>
  <cp:category/>
</cp:coreProperties>
</file>